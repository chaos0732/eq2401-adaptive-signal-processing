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
  </p:notesMasterIdLst>
  <p:sldIdLst>
    <p:sldId id="261" r:id="rId2"/>
    <p:sldId id="260" r:id="rId3"/>
    <p:sldId id="262" r:id="rId4"/>
    <p:sldId id="263" r:id="rId5"/>
    <p:sldId id="264" r:id="rId6"/>
    <p:sldId id="265" r:id="rId7"/>
    <p:sldId id="266" r:id="rId8"/>
    <p:sldId id="267" r:id="rId9"/>
    <p:sldId id="268" r:id="rId10"/>
    <p:sldId id="269" r:id="rId11"/>
  </p:sldIdLst>
  <p:sldSz cx="12192000" cy="6858000"/>
  <p:notesSz cx="6858000" cy="9144000"/>
  <p:embeddedFontLst>
    <p:embeddedFont>
      <p:font typeface="Cambria Math" panose="02040503050406030204" pitchFamily="18" charset="0"/>
      <p:regular r:id="rId13"/>
    </p:embeddedFont>
    <p:embeddedFont>
      <p:font typeface="Figtree" panose="02010600030101010101" charset="0"/>
      <p:regular r:id="rId14"/>
      <p:bold r:id="rId15"/>
      <p:italic r:id="rId16"/>
      <p:boldItalic r:id="rId17"/>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4" autoAdjust="0"/>
    <p:restoredTop sz="96327"/>
  </p:normalViewPr>
  <p:slideViewPr>
    <p:cSldViewPr snapToGrid="0">
      <p:cViewPr varScale="1">
        <p:scale>
          <a:sx n="81" d="100"/>
          <a:sy n="81" d="100"/>
        </p:scale>
        <p:origin x="60" y="2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7T15:40:47.629"/>
    </inkml:context>
    <inkml:brush xml:id="br0">
      <inkml:brushProperty name="width" value="0.035" units="cm"/>
      <inkml:brushProperty name="height" value="0.035" units="cm"/>
      <inkml:brushProperty name="color" value="#E71224"/>
    </inkml:brush>
  </inkml:definitions>
  <inkml:trace contextRef="#ctx0" brushRef="#br0">20 0 24575,'-1'30'0,"-7"36"0,-1 23 0,8 622-1050,3-348 1113,-2 2400-4,9-2632-323,0-3-213,-9-83 846,10 73 0,-4-59-116,-2 1-1,-6 75 1,0-38-80,3 984-173,-1-1069 0,2 1 0,0-1 0,0 0 0,8 22 0,-5-20 0,-1 1 0,4 28 0,-6 199 0,-3-124 0,2-70 0,16 84 0,-2-76 0,-10-43 0,-2-1 0,1 1 0,2 22 0,5 119 0,-7-50 0,0-3 0,-2-90 0,0 0 0,1 0 0,5 11 0,-4-11 0,0 0 0,2 18 0,-3 2 0,-2 53 0,-2-56 0,2 0 0,6 46 0,-4-48 0,2 41 0,-1 3 0,-2-59 0,1 1 0,7 19 0,-6-19 0,-1 0 0,4 17 0,-2 30 0,-5 114 0,-2-72 0,2 1135 0,-1-1208 0,-7 36 0,-1 23 0,9 216 0,1-142 0,-2-144 0,-1 0 0,-1-1 0,-8 32 0,5-29 0,2 2 0,-3 21 0,5 218 0,4-134 0,-2-77 0,1 6 0,-13 108 0,6-104 0,2 0 0,5 77 0,1-39 0,-2 143 0,0-261-353,-1 0-1,0 0 0,-2 0 0,-5-22 1,1 13-908,0 2-3901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2025-02-10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2025-02-10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2025-02-10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2025-02-10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zh-CN" altLang="en-US"/>
              <a:t>单击此处编辑母版标题样式</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2025-02-10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zh-CN" altLang="en-US"/>
              <a:t>单击此处编辑母版标题样式</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2025-02-10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zh-CN" altLang="en-US"/>
              <a:t>单击此处编辑母版标题样式</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2025-02-10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zh-CN" altLang="en-US"/>
              <a:t>单击此处编辑母版标题样式</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2025-02-10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zh-CN" altLang="en-US"/>
              <a:t>单击此处编辑母版标题样式</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2025-02-10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zh-CN" altLang="en-US"/>
              <a:t>单击此处编辑母版标题样式</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2025-02-10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zh-CN" altLang="en-US"/>
              <a:t>单击此处编辑母版标题样式</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2025-02-10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zh-CN" altLang="en-US"/>
              <a:t>单击此处编辑母版标题样式</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2025-02-10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zh-CN" altLang="en-US"/>
              <a:t>单击此处编辑母版标题样式</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2025-02-10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zh-CN" altLang="en-US"/>
              <a:t>单击此处编辑母版标题样式</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2025-02-10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zh-CN" altLang="en-US"/>
              <a:t>单击此处编辑母版标题样式</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2025-02-10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zh-CN" altLang="en-US"/>
              <a:t>单击此处编辑母版标题样式</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2025-02-10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zh-CN" altLang="en-US"/>
              <a:t>单击此处编辑母版标题样式</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2025-02-10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zh-CN" altLang="en-US"/>
              <a:t>单击此处编辑母版标题样式</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2025-02-10</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zh-CN" altLang="en-US"/>
              <a:t>单击此处编辑母版标题样式</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2025-02-10</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zh-CN" altLang="en-US"/>
              <a:t>单击此处编辑母版标题样式</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2025-02-10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zh-CN" altLang="en-US"/>
              <a:t>单击此处编辑母版标题样式</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zh-CN" altLang="en-US"/>
              <a:t>单击此处编辑母版文本样式</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2025-02-10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zh-CN" altLang="en-US"/>
              <a:t>单击此处编辑母版标题样式</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zh-CN" altLang="en-US"/>
              <a:t>单击此处编辑母版文本样式</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2025-02-10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zh-CN" altLang="en-US"/>
              <a:t>单击此处编辑母版标题样式</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zh-CN" altLang="en-US"/>
              <a:t>单击此处编辑母版文本样式</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2025-02-10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zh-CN" altLang="en-US"/>
              <a:t>单击此处编辑母版标题样式</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zh-CN" altLang="en-US"/>
              <a:t>单击此处编辑母版文本样式</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2025-02-10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zh-CN" altLang="en-US"/>
              <a:t>单击此处编辑母版标题样式</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zh-CN" altLang="en-US"/>
              <a:t>单击此处编辑母版文本样式</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2025-02-10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zh-CN" altLang="en-US"/>
              <a:t>单击此处编辑母版标题样式</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zh-CN" altLang="en-US"/>
              <a:t>单击此处编辑母版文本样式</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2025-02-10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zh-CN" altLang="en-US"/>
              <a:t>单击此处编辑母版标题样式</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zh-CN" altLang="en-US"/>
              <a:t>单击此处编辑母版文本样式</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2025-02-10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zh-CN" altLang="en-US"/>
              <a:t>单击此处编辑母版标题样式</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zh-CN" altLang="en-US"/>
              <a:t>单击此处编辑母版文本样式</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2025-02-10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zh-CN" altLang="en-US"/>
              <a:t>单击此处编辑母版标题样式</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2025-02-10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zh-CN" altLang="en-US"/>
              <a:t>单击此处编辑母版标题样式</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2025-02-10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zh-CN" altLang="en-US"/>
              <a:t>单击此处编辑母版标题样式</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2025-02-10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zh-CN" altLang="en-US"/>
              <a:t>单击此处编辑母版标题样式</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2025-02-10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zh-CN" altLang="en-US"/>
              <a:t>单击此处编辑母版标题样式</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2025-02-10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zh-CN" altLang="en-US"/>
              <a:t>单击此处编辑母版标题样式</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2025-02-10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zh-CN" altLang="en-US"/>
              <a:t>单击此处编辑母版标题样式</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2025-02-10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zh-CN" altLang="en-US"/>
              <a:t>单击此处编辑母版标题样式</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2025-02-10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zh-CN" altLang="en-US"/>
              <a:t>单击此处编辑母版标题样式</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2025-02-10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zh-CN" altLang="en-US"/>
              <a:t>单击此处编辑母版标题样式</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2025-02-10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zh-CN" altLang="en-US"/>
              <a:t>单击此处编辑母版标题样式</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2025-02-10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zh-CN" altLang="en-US"/>
              <a:t>单击此处编辑母版标题样式</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2025-02-10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2025-02-10</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zh-CN" altLang="en-US"/>
              <a:t>单击此处编辑母版标题样式</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2025-02-10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zh-CN" altLang="en-US"/>
              <a:t>单击此处编辑母版标题样式</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2025-02-10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2025-02-10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2025-02-10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2025-02-10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2025-02-10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2025-02-10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2025-02-10</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customXml" Target="../ink/ink1.xml"/><Relationship Id="rId4" Type="http://schemas.openxmlformats.org/officeDocument/2006/relationships/image" Target="../media/image34.png"/></Relationships>
</file>

<file path=ppt/slides/_rels/slide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7.xml"/><Relationship Id="rId5" Type="http://schemas.openxmlformats.org/officeDocument/2006/relationships/image" Target="../media/image54.png"/><Relationship Id="rId4" Type="http://schemas.openxmlformats.org/officeDocument/2006/relationships/image" Target="../media/image53.png"/></Relationships>
</file>

<file path=ppt/slides/_rels/slide8.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1A0E7B-B5E6-9E0F-85F3-E2DFC7679A7F}"/>
              </a:ext>
            </a:extLst>
          </p:cNvPr>
          <p:cNvSpPr>
            <a:spLocks noGrp="1"/>
          </p:cNvSpPr>
          <p:nvPr>
            <p:ph type="ctrTitle"/>
          </p:nvPr>
        </p:nvSpPr>
        <p:spPr/>
        <p:txBody>
          <a:bodyPr/>
          <a:lstStyle/>
          <a:p>
            <a:r>
              <a:rPr lang="en-US" altLang="zh-CN" dirty="0"/>
              <a:t>EQ2401 Project 1</a:t>
            </a:r>
            <a:endParaRPr lang="zh-CN" altLang="en-US" dirty="0"/>
          </a:p>
        </p:txBody>
      </p:sp>
      <p:sp>
        <p:nvSpPr>
          <p:cNvPr id="3" name="副标题 2">
            <a:extLst>
              <a:ext uri="{FF2B5EF4-FFF2-40B4-BE49-F238E27FC236}">
                <a16:creationId xmlns:a16="http://schemas.microsoft.com/office/drawing/2014/main" id="{42C4D39A-9294-5208-675E-ED1964367DB7}"/>
              </a:ext>
            </a:extLst>
          </p:cNvPr>
          <p:cNvSpPr>
            <a:spLocks noGrp="1"/>
          </p:cNvSpPr>
          <p:nvPr>
            <p:ph type="subTitle" idx="1"/>
          </p:nvPr>
        </p:nvSpPr>
        <p:spPr/>
        <p:txBody>
          <a:bodyPr/>
          <a:lstStyle/>
          <a:p>
            <a:r>
              <a:rPr lang="en-US" altLang="zh-CN" dirty="0" err="1"/>
              <a:t>Yijie</a:t>
            </a:r>
            <a:r>
              <a:rPr lang="en-US" altLang="zh-CN" dirty="0"/>
              <a:t> Li     yijiel@kth.se</a:t>
            </a:r>
            <a:endParaRPr lang="zh-CN" altLang="en-US" dirty="0"/>
          </a:p>
        </p:txBody>
      </p:sp>
    </p:spTree>
    <p:extLst>
      <p:ext uri="{BB962C8B-B14F-4D97-AF65-F5344CB8AC3E}">
        <p14:creationId xmlns:p14="http://schemas.microsoft.com/office/powerpoint/2010/main" val="3200605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0075" y="1754955"/>
                <a:ext cx="10990263" cy="4453808"/>
              </a:xfrm>
            </p:spPr>
            <p:txBody>
              <a:bodyPr/>
              <a:lstStyle/>
              <a:p>
                <a:r>
                  <a:rPr lang="en-US" dirty="0"/>
                  <a:t>Input: audio signal with noise,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r>
                  <a:rPr lang="en-US" dirty="0"/>
                  <a:t>Output: estimated signal </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r>
                      <a:rPr lang="en-US" altLang="zh-CN" b="0" i="1" dirty="0" smtClean="0">
                        <a:latin typeface="Cambria Math" panose="02040503050406030204" pitchFamily="18" charset="0"/>
                      </a:rPr>
                      <m:t>)</m:t>
                    </m:r>
                  </m:oMath>
                </a14:m>
                <a:endParaRPr lang="en-US" dirty="0"/>
              </a:p>
              <a:p>
                <a:r>
                  <a:rPr lang="en-US" dirty="0"/>
                  <a:t>Target: employ FIR Wiener, Causal Wiener and Non-Causal Wiener filters.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0075" y="1754955"/>
                <a:ext cx="10990263" cy="4453808"/>
              </a:xfrm>
              <a:blipFill>
                <a:blip r:embed="rId2"/>
                <a:stretch>
                  <a:fillRect l="-499" t="-1370"/>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F7FA0600-6FE0-80B3-B98E-9A62783342E7}"/>
              </a:ext>
            </a:extLst>
          </p:cNvPr>
          <p:cNvPicPr>
            <a:picLocks noChangeAspect="1"/>
          </p:cNvPicPr>
          <p:nvPr/>
        </p:nvPicPr>
        <p:blipFill>
          <a:blip r:embed="rId3"/>
          <a:stretch>
            <a:fillRect/>
          </a:stretch>
        </p:blipFill>
        <p:spPr>
          <a:xfrm>
            <a:off x="488992" y="3293076"/>
            <a:ext cx="5025689" cy="3140031"/>
          </a:xfrm>
          <a:prstGeom prst="rect">
            <a:avLst/>
          </a:prstGeom>
        </p:spPr>
      </p:pic>
      <p:pic>
        <p:nvPicPr>
          <p:cNvPr id="7" name="图片 6">
            <a:extLst>
              <a:ext uri="{FF2B5EF4-FFF2-40B4-BE49-F238E27FC236}">
                <a16:creationId xmlns:a16="http://schemas.microsoft.com/office/drawing/2014/main" id="{EED0DC2C-B449-1F65-9AAF-7FBC380F8D88}"/>
              </a:ext>
            </a:extLst>
          </p:cNvPr>
          <p:cNvPicPr>
            <a:picLocks noChangeAspect="1"/>
          </p:cNvPicPr>
          <p:nvPr/>
        </p:nvPicPr>
        <p:blipFill>
          <a:blip r:embed="rId4"/>
          <a:stretch>
            <a:fillRect/>
          </a:stretch>
        </p:blipFill>
        <p:spPr>
          <a:xfrm>
            <a:off x="6500811" y="2984157"/>
            <a:ext cx="4678245" cy="3794167"/>
          </a:xfrm>
          <a:prstGeom prst="rect">
            <a:avLst/>
          </a:prstGeom>
        </p:spPr>
      </p:pic>
      <mc:AlternateContent xmlns:mc="http://schemas.openxmlformats.org/markup-compatibility/2006" xmlns:p14="http://schemas.microsoft.com/office/powerpoint/2010/main">
        <mc:Choice Requires="p14">
          <p:contentPart p14:bwMode="auto" r:id="rId5">
            <p14:nvContentPartPr>
              <p14:cNvPr id="11" name="墨迹 10">
                <a:extLst>
                  <a:ext uri="{FF2B5EF4-FFF2-40B4-BE49-F238E27FC236}">
                    <a16:creationId xmlns:a16="http://schemas.microsoft.com/office/drawing/2014/main" id="{EA1741EF-0B9C-4C0C-4976-06EF0B04EDD0}"/>
                  </a:ext>
                </a:extLst>
              </p14:cNvPr>
              <p14:cNvContentPartPr/>
              <p14:nvPr/>
            </p14:nvContentPartPr>
            <p14:xfrm>
              <a:off x="9501276" y="2693491"/>
              <a:ext cx="82440" cy="4073760"/>
            </p14:xfrm>
          </p:contentPart>
        </mc:Choice>
        <mc:Fallback xmlns="">
          <p:pic>
            <p:nvPicPr>
              <p:cNvPr id="11" name="墨迹 10">
                <a:extLst>
                  <a:ext uri="{FF2B5EF4-FFF2-40B4-BE49-F238E27FC236}">
                    <a16:creationId xmlns:a16="http://schemas.microsoft.com/office/drawing/2014/main" id="{EA1741EF-0B9C-4C0C-4976-06EF0B04EDD0}"/>
                  </a:ext>
                </a:extLst>
              </p:cNvPr>
              <p:cNvPicPr/>
              <p:nvPr/>
            </p:nvPicPr>
            <p:blipFill>
              <a:blip r:embed="rId6"/>
              <a:stretch>
                <a:fillRect/>
              </a:stretch>
            </p:blipFill>
            <p:spPr>
              <a:xfrm>
                <a:off x="9495156" y="2687371"/>
                <a:ext cx="94680" cy="4086000"/>
              </a:xfrm>
              <a:prstGeom prst="rect">
                <a:avLst/>
              </a:prstGeom>
            </p:spPr>
          </p:pic>
        </mc:Fallback>
      </mc:AlternateContent>
    </p:spTree>
    <p:extLst>
      <p:ext uri="{BB962C8B-B14F-4D97-AF65-F5344CB8AC3E}">
        <p14:creationId xmlns:p14="http://schemas.microsoft.com/office/powerpoint/2010/main" val="214614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767BC3-115B-C0FD-DCF3-D39115125F19}"/>
              </a:ext>
            </a:extLst>
          </p:cNvPr>
          <p:cNvSpPr>
            <a:spLocks noGrp="1"/>
          </p:cNvSpPr>
          <p:nvPr>
            <p:ph type="title"/>
          </p:nvPr>
        </p:nvSpPr>
        <p:spPr/>
        <p:txBody>
          <a:bodyPr/>
          <a:lstStyle/>
          <a:p>
            <a:r>
              <a:rPr lang="en-US" altLang="zh-CN" dirty="0"/>
              <a:t>Noise statistics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643D794-42F7-8530-1116-0204281506C0}"/>
                  </a:ext>
                </a:extLst>
              </p:cNvPr>
              <p:cNvSpPr>
                <a:spLocks noGrp="1"/>
              </p:cNvSpPr>
              <p:nvPr>
                <p:ph idx="1"/>
              </p:nvPr>
            </p:nvSpPr>
            <p:spPr>
              <a:xfrm>
                <a:off x="600075" y="1872343"/>
                <a:ext cx="10990263" cy="4670559"/>
              </a:xfrm>
            </p:spPr>
            <p:txBody>
              <a:bodyPr/>
              <a:lstStyle/>
              <a:p>
                <a:r>
                  <a:rPr lang="en-US" altLang="zh-CN" dirty="0"/>
                  <a:t>Gaussian</a:t>
                </a:r>
              </a:p>
              <a:p>
                <a:r>
                  <a:rPr lang="en-US" altLang="zh-CN" dirty="0"/>
                  <a:t>Not white</a:t>
                </a:r>
              </a:p>
              <a:p>
                <a:r>
                  <a:rPr lang="en-US" altLang="zh-CN" dirty="0"/>
                  <a:t>Suppose stationary                                    model:</a:t>
                </a:r>
                <a14:m>
                  <m:oMath xmlns:m="http://schemas.openxmlformats.org/officeDocument/2006/math">
                    <m:r>
                      <a:rPr lang="en-US" altLang="zh-CN" b="0" i="1" smtClean="0">
                        <a:latin typeface="Cambria Math" panose="02040503050406030204" pitchFamily="18" charset="0"/>
                      </a:rPr>
                      <m:t>𝑦</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𝑥</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8643D794-42F7-8530-1116-0204281506C0}"/>
                  </a:ext>
                </a:extLst>
              </p:cNvPr>
              <p:cNvSpPr>
                <a:spLocks noGrp="1" noRot="1" noChangeAspect="1" noMove="1" noResize="1" noEditPoints="1" noAdjustHandles="1" noChangeArrowheads="1" noChangeShapeType="1" noTextEdit="1"/>
              </p:cNvSpPr>
              <p:nvPr>
                <p:ph idx="1"/>
              </p:nvPr>
            </p:nvSpPr>
            <p:spPr>
              <a:xfrm>
                <a:off x="600075" y="1872343"/>
                <a:ext cx="10990263" cy="4670559"/>
              </a:xfrm>
              <a:blipFill>
                <a:blip r:embed="rId2"/>
                <a:stretch>
                  <a:fillRect l="-499" t="-1175"/>
                </a:stretch>
              </a:blipFill>
            </p:spPr>
            <p:txBody>
              <a:bodyPr/>
              <a:lstStyle/>
              <a:p>
                <a:r>
                  <a:rPr lang="zh-CN" altLang="en-US">
                    <a:noFill/>
                  </a:rPr>
                  <a:t> </a:t>
                </a:r>
              </a:p>
            </p:txBody>
          </p:sp>
        </mc:Fallback>
      </mc:AlternateContent>
      <p:pic>
        <p:nvPicPr>
          <p:cNvPr id="7" name="图片 6" descr="图片包含 图形用户界面&#10;&#10;AI 生成的内容可能不正确。">
            <a:extLst>
              <a:ext uri="{FF2B5EF4-FFF2-40B4-BE49-F238E27FC236}">
                <a16:creationId xmlns:a16="http://schemas.microsoft.com/office/drawing/2014/main" id="{3E11324E-7F78-BB93-188D-0FF9839ADA12}"/>
              </a:ext>
            </a:extLst>
          </p:cNvPr>
          <p:cNvPicPr>
            <a:picLocks noChangeAspect="1"/>
          </p:cNvPicPr>
          <p:nvPr/>
        </p:nvPicPr>
        <p:blipFill>
          <a:blip r:embed="rId3"/>
          <a:stretch>
            <a:fillRect/>
          </a:stretch>
        </p:blipFill>
        <p:spPr>
          <a:xfrm>
            <a:off x="0" y="3033762"/>
            <a:ext cx="12192000" cy="3410110"/>
          </a:xfrm>
          <a:prstGeom prst="rect">
            <a:avLst/>
          </a:prstGeom>
        </p:spPr>
      </p:pic>
    </p:spTree>
    <p:extLst>
      <p:ext uri="{BB962C8B-B14F-4D97-AF65-F5344CB8AC3E}">
        <p14:creationId xmlns:p14="http://schemas.microsoft.com/office/powerpoint/2010/main" val="868970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37EC6B-C246-C24D-81F0-0F5E5B393618}"/>
              </a:ext>
            </a:extLst>
          </p:cNvPr>
          <p:cNvSpPr>
            <a:spLocks noGrp="1"/>
          </p:cNvSpPr>
          <p:nvPr>
            <p:ph type="title"/>
          </p:nvPr>
        </p:nvSpPr>
        <p:spPr/>
        <p:txBody>
          <a:bodyPr/>
          <a:lstStyle/>
          <a:p>
            <a:r>
              <a:rPr lang="en-US" altLang="zh-CN" dirty="0"/>
              <a:t>FIR wiener filter</a:t>
            </a:r>
            <a:endParaRPr lang="zh-CN" altLang="en-US" dirty="0"/>
          </a:p>
        </p:txBody>
      </p:sp>
      <p:pic>
        <p:nvPicPr>
          <p:cNvPr id="5" name="内容占位符 4" descr="文本, 信件&#10;&#10;AI 生成的内容可能不正确。">
            <a:extLst>
              <a:ext uri="{FF2B5EF4-FFF2-40B4-BE49-F238E27FC236}">
                <a16:creationId xmlns:a16="http://schemas.microsoft.com/office/drawing/2014/main" id="{1602AB28-CB68-02B3-4D22-8113F840F224}"/>
              </a:ext>
            </a:extLst>
          </p:cNvPr>
          <p:cNvPicPr>
            <a:picLocks noGrp="1" noChangeAspect="1"/>
          </p:cNvPicPr>
          <p:nvPr>
            <p:ph idx="1"/>
          </p:nvPr>
        </p:nvPicPr>
        <p:blipFill>
          <a:blip r:embed="rId2"/>
          <a:stretch>
            <a:fillRect/>
          </a:stretch>
        </p:blipFill>
        <p:spPr>
          <a:xfrm>
            <a:off x="6599238" y="520145"/>
            <a:ext cx="4991100" cy="1476375"/>
          </a:xfrm>
        </p:spPr>
      </p:pic>
      <mc:AlternateContent xmlns:mc="http://schemas.openxmlformats.org/markup-compatibility/2006">
        <mc:Choice xmlns:a14="http://schemas.microsoft.com/office/drawing/2010/main" Requires="a14">
          <p:sp>
            <p:nvSpPr>
              <p:cNvPr id="7" name="内容占位符 2">
                <a:extLst>
                  <a:ext uri="{FF2B5EF4-FFF2-40B4-BE49-F238E27FC236}">
                    <a16:creationId xmlns:a16="http://schemas.microsoft.com/office/drawing/2014/main" id="{3FA28538-F6D7-6C17-4638-78675294928C}"/>
                  </a:ext>
                </a:extLst>
              </p:cNvPr>
              <p:cNvSpPr txBox="1">
                <a:spLocks/>
              </p:cNvSpPr>
              <p:nvPr/>
            </p:nvSpPr>
            <p:spPr>
              <a:xfrm>
                <a:off x="600075" y="1872343"/>
                <a:ext cx="10990263" cy="46705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Done in time domain</a:t>
                </a:r>
              </a:p>
              <a:p>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𝑛</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𝜃</m:t>
                    </m:r>
                    <m:r>
                      <a:rPr lang="en-US" altLang="zh-CN" b="0" i="1" dirty="0" smtClean="0">
                        <a:latin typeface="Cambria Math" panose="02040503050406030204" pitchFamily="18" charset="0"/>
                      </a:rPr>
                      <m:t>∗</m:t>
                    </m:r>
                    <m:r>
                      <m:rPr>
                        <m:sty m:val="p"/>
                      </m:rPr>
                      <a:rPr lang="en-US" altLang="zh-CN" b="0" i="0" dirty="0" smtClean="0">
                        <a:latin typeface="Cambria Math" panose="02040503050406030204" pitchFamily="18" charset="0"/>
                      </a:rPr>
                      <m:t>y</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n</m:t>
                    </m:r>
                    <m:r>
                      <a:rPr lang="en-US" altLang="zh-CN" b="0" i="0" dirty="0" smtClean="0">
                        <a:latin typeface="Cambria Math" panose="02040503050406030204" pitchFamily="18" charset="0"/>
                      </a:rPr>
                      <m:t>)</m:t>
                    </m:r>
                  </m:oMath>
                </a14:m>
                <a:endParaRPr lang="en-US" altLang="zh-CN" b="0" dirty="0"/>
              </a:p>
              <a:p>
                <a:r>
                  <a:rPr lang="en-US" altLang="zh-CN" dirty="0"/>
                  <a:t>Take filter order N=20</a:t>
                </a:r>
                <a:endParaRPr lang="en-US" altLang="zh-CN" b="0" dirty="0"/>
              </a:p>
              <a:p>
                <a:endParaRPr lang="zh-CN" altLang="en-US" dirty="0"/>
              </a:p>
              <a:p>
                <a:endParaRPr lang="en-US" altLang="zh-CN" b="0" dirty="0"/>
              </a:p>
              <a:p>
                <a:endParaRPr lang="zh-CN" altLang="en-US" dirty="0"/>
              </a:p>
            </p:txBody>
          </p:sp>
        </mc:Choice>
        <mc:Fallback>
          <p:sp>
            <p:nvSpPr>
              <p:cNvPr id="7" name="内容占位符 2">
                <a:extLst>
                  <a:ext uri="{FF2B5EF4-FFF2-40B4-BE49-F238E27FC236}">
                    <a16:creationId xmlns:a16="http://schemas.microsoft.com/office/drawing/2014/main" id="{3FA28538-F6D7-6C17-4638-78675294928C}"/>
                  </a:ext>
                </a:extLst>
              </p:cNvPr>
              <p:cNvSpPr txBox="1">
                <a:spLocks noRot="1" noChangeAspect="1" noMove="1" noResize="1" noEditPoints="1" noAdjustHandles="1" noChangeArrowheads="1" noChangeShapeType="1" noTextEdit="1"/>
              </p:cNvSpPr>
              <p:nvPr/>
            </p:nvSpPr>
            <p:spPr>
              <a:xfrm>
                <a:off x="600075" y="1872343"/>
                <a:ext cx="10990263" cy="4670559"/>
              </a:xfrm>
              <a:prstGeom prst="rect">
                <a:avLst/>
              </a:prstGeom>
              <a:blipFill>
                <a:blip r:embed="rId3"/>
                <a:stretch>
                  <a:fillRect l="-499" t="-1175"/>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B2EA92BB-519A-B547-A4DE-6B3047C479C7}"/>
              </a:ext>
            </a:extLst>
          </p:cNvPr>
          <p:cNvPicPr>
            <a:picLocks noChangeAspect="1"/>
          </p:cNvPicPr>
          <p:nvPr/>
        </p:nvPicPr>
        <p:blipFill>
          <a:blip r:embed="rId4"/>
          <a:stretch>
            <a:fillRect/>
          </a:stretch>
        </p:blipFill>
        <p:spPr>
          <a:xfrm>
            <a:off x="1045213" y="3089177"/>
            <a:ext cx="2585961" cy="648742"/>
          </a:xfrm>
          <a:prstGeom prst="rect">
            <a:avLst/>
          </a:prstGeom>
        </p:spPr>
      </p:pic>
      <p:pic>
        <p:nvPicPr>
          <p:cNvPr id="11" name="图片 10" descr="文本&#10;&#10;AI 生成的内容可能不正确。">
            <a:extLst>
              <a:ext uri="{FF2B5EF4-FFF2-40B4-BE49-F238E27FC236}">
                <a16:creationId xmlns:a16="http://schemas.microsoft.com/office/drawing/2014/main" id="{E8677C8D-A83A-F6F7-7C77-15536AA497C7}"/>
              </a:ext>
            </a:extLst>
          </p:cNvPr>
          <p:cNvPicPr>
            <a:picLocks noChangeAspect="1"/>
          </p:cNvPicPr>
          <p:nvPr/>
        </p:nvPicPr>
        <p:blipFill>
          <a:blip r:embed="rId5"/>
          <a:stretch>
            <a:fillRect/>
          </a:stretch>
        </p:blipFill>
        <p:spPr>
          <a:xfrm>
            <a:off x="472775" y="4085799"/>
            <a:ext cx="5409042" cy="2356190"/>
          </a:xfrm>
          <a:prstGeom prst="rect">
            <a:avLst/>
          </a:prstGeom>
        </p:spPr>
      </p:pic>
      <p:pic>
        <p:nvPicPr>
          <p:cNvPr id="13" name="图片 12" descr="图示&#10;&#10;AI 生成的内容可能不正确。">
            <a:extLst>
              <a:ext uri="{FF2B5EF4-FFF2-40B4-BE49-F238E27FC236}">
                <a16:creationId xmlns:a16="http://schemas.microsoft.com/office/drawing/2014/main" id="{F51F3629-88E6-EF92-0222-54561BA0BB0D}"/>
              </a:ext>
            </a:extLst>
          </p:cNvPr>
          <p:cNvPicPr>
            <a:picLocks noChangeAspect="1"/>
          </p:cNvPicPr>
          <p:nvPr/>
        </p:nvPicPr>
        <p:blipFill>
          <a:blip r:embed="rId6"/>
          <a:stretch>
            <a:fillRect/>
          </a:stretch>
        </p:blipFill>
        <p:spPr>
          <a:xfrm>
            <a:off x="5774661" y="3926486"/>
            <a:ext cx="5189837" cy="2680674"/>
          </a:xfrm>
          <a:prstGeom prst="rect">
            <a:avLst/>
          </a:prstGeom>
        </p:spPr>
      </p:pic>
      <mc:AlternateContent xmlns:mc="http://schemas.openxmlformats.org/markup-compatibility/2006">
        <mc:Choice xmlns:a14="http://schemas.microsoft.com/office/drawing/2010/main" Requires="a14">
          <p:sp>
            <p:nvSpPr>
              <p:cNvPr id="14" name="内容占位符 2">
                <a:extLst>
                  <a:ext uri="{FF2B5EF4-FFF2-40B4-BE49-F238E27FC236}">
                    <a16:creationId xmlns:a16="http://schemas.microsoft.com/office/drawing/2014/main" id="{F5578E6A-7FE6-FB42-272B-12F337D1598B}"/>
                  </a:ext>
                </a:extLst>
              </p:cNvPr>
              <p:cNvSpPr txBox="1">
                <a:spLocks/>
              </p:cNvSpPr>
              <p:nvPr/>
            </p:nvSpPr>
            <p:spPr>
              <a:xfrm>
                <a:off x="7002163" y="1945387"/>
                <a:ext cx="5189837" cy="25805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dirty="0"/>
              </a:p>
              <a:p>
                <a:r>
                  <a:rPr lang="en-US" altLang="zh-CN" b="0" dirty="0"/>
                  <a:t>Since </a:t>
                </a:r>
                <a14:m>
                  <m:oMath xmlns:m="http://schemas.openxmlformats.org/officeDocument/2006/math">
                    <m:r>
                      <a:rPr lang="en-US" altLang="zh-CN" b="0" i="1" smtClean="0">
                        <a:latin typeface="Cambria Math" panose="02040503050406030204" pitchFamily="18" charset="0"/>
                      </a:rPr>
                      <m:t>𝑦</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𝑛</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𝑥</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𝑛</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𝑣</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𝑛</m:t>
                        </m:r>
                      </m:e>
                    </m:d>
                  </m:oMath>
                </a14:m>
                <a:r>
                  <a:rPr lang="en-US" altLang="zh-CN" b="0" dirty="0"/>
                  <a:t>,</a:t>
                </a:r>
              </a:p>
              <a:p>
                <a14:m>
                  <m:oMath xmlns:m="http://schemas.openxmlformats.org/officeDocument/2006/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𝑦𝑥</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𝑣</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𝑦𝑣</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𝑣𝑣</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𝑦𝑣</m:t>
                            </m:r>
                          </m:e>
                        </m:d>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_{</m:t>
                    </m:r>
                    <m:r>
                      <a:rPr lang="en-US" altLang="zh-CN" b="0" i="1" smtClean="0">
                        <a:latin typeface="Cambria Math" panose="02040503050406030204" pitchFamily="18" charset="0"/>
                      </a:rPr>
                      <m:t>𝑣𝑣</m:t>
                    </m:r>
                    <m:r>
                      <a:rPr lang="en-US" altLang="zh-CN" b="0" i="1" smtClean="0">
                        <a:latin typeface="Cambria Math" panose="02040503050406030204" pitchFamily="18" charset="0"/>
                      </a:rPr>
                      <m:t>}</m:t>
                    </m:r>
                  </m:oMath>
                </a14:m>
                <a:r>
                  <a:rPr lang="en-US" altLang="zh-CN" dirty="0"/>
                  <a:t> </a:t>
                </a:r>
              </a:p>
              <a:p>
                <a:r>
                  <a:rPr lang="en-US" altLang="zh-CN" dirty="0"/>
                  <a:t>We have </a:t>
                </a:r>
                <a14:m>
                  <m:oMath xmlns:m="http://schemas.openxmlformats.org/officeDocument/2006/math">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𝑌𝑥</m:t>
                        </m:r>
                      </m:sub>
                      <m:sup/>
                      <m:e>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𝑌𝑥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𝑣</m:t>
                            </m:r>
                          </m:sub>
                        </m:sSub>
                      </m:e>
                    </m:nary>
                  </m:oMath>
                </a14:m>
                <a:endParaRPr lang="zh-CN" altLang="en-US" dirty="0"/>
              </a:p>
              <a:p>
                <a:endParaRPr lang="en-US" altLang="zh-CN" b="0" dirty="0"/>
              </a:p>
              <a:p>
                <a:endParaRPr lang="zh-CN" altLang="en-US" dirty="0"/>
              </a:p>
            </p:txBody>
          </p:sp>
        </mc:Choice>
        <mc:Fallback>
          <p:sp>
            <p:nvSpPr>
              <p:cNvPr id="14" name="内容占位符 2">
                <a:extLst>
                  <a:ext uri="{FF2B5EF4-FFF2-40B4-BE49-F238E27FC236}">
                    <a16:creationId xmlns:a16="http://schemas.microsoft.com/office/drawing/2014/main" id="{F5578E6A-7FE6-FB42-272B-12F337D1598B}"/>
                  </a:ext>
                </a:extLst>
              </p:cNvPr>
              <p:cNvSpPr txBox="1">
                <a:spLocks noRot="1" noChangeAspect="1" noMove="1" noResize="1" noEditPoints="1" noAdjustHandles="1" noChangeArrowheads="1" noChangeShapeType="1" noTextEdit="1"/>
              </p:cNvSpPr>
              <p:nvPr/>
            </p:nvSpPr>
            <p:spPr>
              <a:xfrm>
                <a:off x="7002163" y="1945387"/>
                <a:ext cx="5189837" cy="2580502"/>
              </a:xfrm>
              <a:prstGeom prst="rect">
                <a:avLst/>
              </a:prstGeom>
              <a:blipFill>
                <a:blip r:embed="rId7"/>
                <a:stretch>
                  <a:fillRect l="-1058" b="-11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6154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B3B6A8-EFD4-5961-1149-5A946A1F9860}"/>
              </a:ext>
            </a:extLst>
          </p:cNvPr>
          <p:cNvSpPr>
            <a:spLocks noGrp="1"/>
          </p:cNvSpPr>
          <p:nvPr>
            <p:ph type="title"/>
          </p:nvPr>
        </p:nvSpPr>
        <p:spPr/>
        <p:txBody>
          <a:bodyPr/>
          <a:lstStyle/>
          <a:p>
            <a:r>
              <a:rPr lang="en-US" altLang="zh-CN" dirty="0"/>
              <a:t>Non-Causal Wiener filter</a:t>
            </a:r>
            <a:endParaRPr lang="zh-CN" altLang="en-US" dirty="0"/>
          </a:p>
        </p:txBody>
      </p:sp>
      <p:pic>
        <p:nvPicPr>
          <p:cNvPr id="5" name="内容占位符 4" descr="图示&#10;&#10;AI 生成的内容可能不正确。">
            <a:extLst>
              <a:ext uri="{FF2B5EF4-FFF2-40B4-BE49-F238E27FC236}">
                <a16:creationId xmlns:a16="http://schemas.microsoft.com/office/drawing/2014/main" id="{B837760A-52A3-26B2-3EEA-86F65419950B}"/>
              </a:ext>
            </a:extLst>
          </p:cNvPr>
          <p:cNvPicPr>
            <a:picLocks noGrp="1" noChangeAspect="1"/>
          </p:cNvPicPr>
          <p:nvPr>
            <p:ph idx="1"/>
          </p:nvPr>
        </p:nvPicPr>
        <p:blipFill>
          <a:blip r:embed="rId2"/>
          <a:stretch>
            <a:fillRect/>
          </a:stretch>
        </p:blipFill>
        <p:spPr>
          <a:xfrm>
            <a:off x="1973198" y="2620040"/>
            <a:ext cx="2019300" cy="695325"/>
          </a:xfrm>
        </p:spPr>
      </p:pic>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F3D0EB6-AB91-0E73-ABA2-8140593E7FA7}"/>
                  </a:ext>
                </a:extLst>
              </p:cNvPr>
              <p:cNvSpPr txBox="1">
                <a:spLocks/>
              </p:cNvSpPr>
              <p:nvPr/>
            </p:nvSpPr>
            <p:spPr>
              <a:xfrm>
                <a:off x="963440" y="1964531"/>
                <a:ext cx="3934855" cy="54603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b="0" dirty="0">
                  <a:latin typeface="Cambria Math" panose="02040503050406030204" pitchFamily="18" charset="0"/>
                </a:endParaRPr>
              </a:p>
              <a:p>
                <a:pPr marL="0" indent="0">
                  <a:buNone/>
                </a:pPr>
                <a:endParaRPr lang="en-US" altLang="zh-CN" dirty="0">
                  <a:latin typeface="Cambria Math" panose="02040503050406030204" pitchFamily="18" charset="0"/>
                </a:endParaRPr>
              </a:p>
              <a:p>
                <a:pPr marL="0" indent="0">
                  <a:buNone/>
                </a:pPr>
                <a:r>
                  <a:rPr lang="en-US" altLang="zh-CN" b="0" dirty="0">
                    <a:latin typeface="Cambria Math" panose="02040503050406030204" pitchFamily="18" charset="0"/>
                  </a:rPr>
                  <a:t>Solution:</a:t>
                </a:r>
              </a:p>
              <a:p>
                <a:pPr marL="0" indent="0">
                  <a:buNone/>
                </a:pPr>
                <a:endParaRPr lang="en-US" altLang="zh-CN" b="0" i="1" dirty="0">
                  <a:latin typeface="Cambria Math" panose="02040503050406030204" pitchFamily="18" charset="0"/>
                </a:endParaRPr>
              </a:p>
              <a:p>
                <a:pPr marL="0" indent="0">
                  <a:buNone/>
                </a:pPr>
                <a:r>
                  <a:rPr lang="en-US" altLang="zh-CN" dirty="0">
                    <a:latin typeface="Cambria Math" panose="02040503050406030204" pitchFamily="18" charset="0"/>
                  </a:rPr>
                  <a:t>Rewrite:</a:t>
                </a:r>
                <a:endParaRPr lang="en-US" altLang="zh-CN"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  </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𝑥𝑦</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𝑦𝑦</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𝑣𝑦</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𝑦𝑦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𝑣𝑣</m:t>
                          </m:r>
                        </m:sub>
                      </m:sSub>
                    </m:oMath>
                  </m:oMathPara>
                </a14:m>
                <a:endParaRPr lang="en-US" altLang="zh-CN"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𝑥𝑦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𝑦𝑦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𝑣𝑣</m:t>
                          </m:r>
                        </m:sub>
                      </m:sSub>
                    </m:oMath>
                  </m:oMathPara>
                </a14:m>
                <a:endParaRPr lang="en-US" altLang="zh-CN" b="0" dirty="0"/>
              </a:p>
              <a:p>
                <a:pPr marL="0" indent="0">
                  <a:buNone/>
                </a:pPr>
                <a:endParaRPr lang="zh-CN" altLang="en-US" dirty="0"/>
              </a:p>
              <a:p>
                <a14:m>
                  <m:oMath xmlns:m="http://schemas.openxmlformats.org/officeDocument/2006/math">
                    <m:r>
                      <a:rPr lang="en-US" altLang="zh-CN" b="0" i="1" smtClean="0">
                        <a:latin typeface="Cambria Math" panose="02040503050406030204" pitchFamily="18" charset="0"/>
                      </a:rPr>
                      <m:t>𝐻</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𝑧</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𝜙</m:t>
                            </m:r>
                          </m:e>
                          <m:sub>
                            <m:r>
                              <a:rPr lang="en-US" altLang="zh-CN" i="1">
                                <a:latin typeface="Cambria Math" panose="02040503050406030204" pitchFamily="18" charset="0"/>
                              </a:rPr>
                              <m:t>𝑥𝑦</m:t>
                            </m:r>
                          </m:sub>
                        </m:sSub>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i="1">
                            <a:latin typeface="Cambria Math" panose="02040503050406030204" pitchFamily="18" charset="0"/>
                          </a:rPr>
                          <m:t>)</m:t>
                        </m:r>
                        <m:r>
                          <m:rPr>
                            <m:nor/>
                          </m:rPr>
                          <a:rPr lang="en-US" altLang="zh-CN" dirty="0"/>
                          <m:t> </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𝜙</m:t>
                            </m:r>
                          </m:e>
                          <m:sub>
                            <m:r>
                              <a:rPr lang="en-US" altLang="zh-CN" b="0" i="1" smtClean="0">
                                <a:latin typeface="Cambria Math" panose="02040503050406030204" pitchFamily="18" charset="0"/>
                              </a:rPr>
                              <m:t>𝑦</m:t>
                            </m:r>
                            <m:r>
                              <a:rPr lang="en-US" altLang="zh-CN" i="1">
                                <a:latin typeface="Cambria Math" panose="02040503050406030204" pitchFamily="18" charset="0"/>
                              </a:rPr>
                              <m:t>𝑦</m:t>
                            </m:r>
                          </m:sub>
                        </m:sSub>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i="1">
                            <a:latin typeface="Cambria Math" panose="02040503050406030204" pitchFamily="18" charset="0"/>
                          </a:rPr>
                          <m:t>)</m:t>
                        </m:r>
                      </m:den>
                    </m:f>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𝜙</m:t>
                            </m:r>
                          </m:e>
                          <m:sub>
                            <m:r>
                              <a:rPr lang="en-US" altLang="zh-CN" b="0" i="1" smtClean="0">
                                <a:latin typeface="Cambria Math" panose="02040503050406030204" pitchFamily="18" charset="0"/>
                              </a:rPr>
                              <m:t>𝑣𝑣</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𝑧</m:t>
                        </m:r>
                        <m:r>
                          <a:rPr lang="en-US" altLang="zh-CN" b="0" i="1" smtClean="0">
                            <a:latin typeface="Cambria Math" panose="02040503050406030204" pitchFamily="18" charset="0"/>
                          </a:rPr>
                          <m:t>)</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𝜙</m:t>
                            </m:r>
                          </m:e>
                          <m:sub>
                            <m:r>
                              <a:rPr lang="en-US" altLang="zh-CN" b="0" i="1" smtClean="0">
                                <a:latin typeface="Cambria Math" panose="02040503050406030204" pitchFamily="18" charset="0"/>
                              </a:rPr>
                              <m:t>𝑦</m:t>
                            </m:r>
                            <m:r>
                              <a:rPr lang="en-US" altLang="zh-CN" i="1">
                                <a:latin typeface="Cambria Math" panose="02040503050406030204" pitchFamily="18" charset="0"/>
                              </a:rPr>
                              <m:t>𝑦</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𝑧</m:t>
                        </m:r>
                        <m:r>
                          <a:rPr lang="en-US" altLang="zh-CN" b="0" i="1" smtClean="0">
                            <a:latin typeface="Cambria Math" panose="02040503050406030204" pitchFamily="18" charset="0"/>
                          </a:rPr>
                          <m:t>)</m:t>
                        </m:r>
                      </m:den>
                    </m:f>
                  </m:oMath>
                </a14:m>
                <a:endParaRPr lang="zh-CN" altLang="en-US" dirty="0"/>
              </a:p>
            </p:txBody>
          </p:sp>
        </mc:Choice>
        <mc:Fallback>
          <p:sp>
            <p:nvSpPr>
              <p:cNvPr id="3" name="内容占位符 2">
                <a:extLst>
                  <a:ext uri="{FF2B5EF4-FFF2-40B4-BE49-F238E27FC236}">
                    <a16:creationId xmlns:a16="http://schemas.microsoft.com/office/drawing/2014/main" id="{5F3D0EB6-AB91-0E73-ABA2-8140593E7FA7}"/>
                  </a:ext>
                </a:extLst>
              </p:cNvPr>
              <p:cNvSpPr txBox="1">
                <a:spLocks noRot="1" noChangeAspect="1" noMove="1" noResize="1" noEditPoints="1" noAdjustHandles="1" noChangeArrowheads="1" noChangeShapeType="1" noTextEdit="1"/>
              </p:cNvSpPr>
              <p:nvPr/>
            </p:nvSpPr>
            <p:spPr>
              <a:xfrm>
                <a:off x="963440" y="1964531"/>
                <a:ext cx="3934855" cy="5460335"/>
              </a:xfrm>
              <a:prstGeom prst="rect">
                <a:avLst/>
              </a:prstGeom>
              <a:blipFill>
                <a:blip r:embed="rId3"/>
                <a:stretch>
                  <a:fillRect l="-1548"/>
                </a:stretch>
              </a:blipFill>
            </p:spPr>
            <p:txBody>
              <a:bodyPr/>
              <a:lstStyle/>
              <a:p>
                <a:r>
                  <a:rPr lang="zh-CN" altLang="en-US">
                    <a:noFill/>
                  </a:rPr>
                  <a:t> </a:t>
                </a:r>
              </a:p>
            </p:txBody>
          </p:sp>
        </mc:Fallback>
      </mc:AlternateContent>
      <p:sp>
        <p:nvSpPr>
          <p:cNvPr id="4" name="内容占位符 2">
            <a:extLst>
              <a:ext uri="{FF2B5EF4-FFF2-40B4-BE49-F238E27FC236}">
                <a16:creationId xmlns:a16="http://schemas.microsoft.com/office/drawing/2014/main" id="{8FEC49C3-530A-D24C-1F78-9F7C4735B690}"/>
              </a:ext>
            </a:extLst>
          </p:cNvPr>
          <p:cNvSpPr txBox="1">
            <a:spLocks/>
          </p:cNvSpPr>
          <p:nvPr/>
        </p:nvSpPr>
        <p:spPr>
          <a:xfrm>
            <a:off x="721520" y="2091742"/>
            <a:ext cx="5593556" cy="1056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Done in frequency domain</a:t>
            </a:r>
          </a:p>
          <a:p>
            <a:endParaRPr lang="zh-CN" altLang="en-US" dirty="0"/>
          </a:p>
        </p:txBody>
      </p:sp>
      <mc:AlternateContent xmlns:mc="http://schemas.openxmlformats.org/markup-compatibility/2006">
        <mc:Choice xmlns:a14="http://schemas.microsoft.com/office/drawing/2010/main" Requires="a14">
          <p:sp>
            <p:nvSpPr>
              <p:cNvPr id="6" name="内容占位符 2">
                <a:extLst>
                  <a:ext uri="{FF2B5EF4-FFF2-40B4-BE49-F238E27FC236}">
                    <a16:creationId xmlns:a16="http://schemas.microsoft.com/office/drawing/2014/main" id="{A8939264-A6FA-6814-74C8-F5408635C3A8}"/>
                  </a:ext>
                </a:extLst>
              </p:cNvPr>
              <p:cNvSpPr txBox="1">
                <a:spLocks/>
              </p:cNvSpPr>
              <p:nvPr/>
            </p:nvSpPr>
            <p:spPr>
              <a:xfrm>
                <a:off x="6685584" y="1937050"/>
                <a:ext cx="5030166" cy="54603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b="0" dirty="0">
                  <a:latin typeface="Cambria Math" panose="02040503050406030204" pitchFamily="18" charset="0"/>
                </a:endParaRPr>
              </a:p>
              <a:p>
                <a:pPr marL="0" indent="0">
                  <a:buNone/>
                </a:pPr>
                <a:endParaRPr lang="en-US" altLang="zh-CN"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𝑣𝑣</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𝐹𝑇</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𝑣𝑣</m:t>
                              </m:r>
                            </m:sub>
                          </m:sSub>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𝑦𝑦</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𝐹𝑇</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𝑦𝑦</m:t>
                              </m:r>
                            </m:sub>
                          </m:sSub>
                        </m:e>
                      </m:d>
                    </m:oMath>
                  </m:oMathPara>
                </a14:m>
                <a:endParaRPr lang="en-US" altLang="zh-CN" b="0" dirty="0">
                  <a:latin typeface="Cambria Math" panose="02040503050406030204" pitchFamily="18" charset="0"/>
                </a:endParaRPr>
              </a:p>
              <a:p>
                <a:pPr marL="0" indent="0">
                  <a:buNone/>
                </a:pPr>
                <a:r>
                  <a:rPr lang="en-US" altLang="zh-CN" b="0" dirty="0"/>
                  <a:t>Note that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𝜙</m:t>
                        </m:r>
                      </m:e>
                      <m:sub>
                        <m:r>
                          <a:rPr lang="en-US" altLang="zh-CN" i="1">
                            <a:latin typeface="Cambria Math" panose="02040503050406030204" pitchFamily="18" charset="0"/>
                          </a:rPr>
                          <m:t>𝑣𝑣</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𝜙</m:t>
                        </m:r>
                      </m:e>
                      <m:sub>
                        <m:r>
                          <a:rPr lang="en-US" altLang="zh-CN" i="1">
                            <a:latin typeface="Cambria Math" panose="02040503050406030204" pitchFamily="18" charset="0"/>
                          </a:rPr>
                          <m:t>𝑦𝑦</m:t>
                        </m:r>
                      </m:sub>
                    </m:sSub>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are</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power</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spectrum</m:t>
                    </m:r>
                    <m:d>
                      <m:dPr>
                        <m:ctrlPr>
                          <a:rPr lang="en-US" altLang="zh-CN" b="0" i="0" smtClean="0">
                            <a:latin typeface="Cambria Math" panose="02040503050406030204" pitchFamily="18" charset="0"/>
                          </a:rPr>
                        </m:ctrlPr>
                      </m:dPr>
                      <m:e>
                        <m:r>
                          <m:rPr>
                            <m:sty m:val="p"/>
                          </m:rPr>
                          <a:rPr lang="en-US" altLang="zh-CN" b="0" i="0" smtClean="0">
                            <a:latin typeface="Cambria Math" panose="02040503050406030204" pitchFamily="18" charset="0"/>
                          </a:rPr>
                          <m:t>real</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valued</m:t>
                        </m:r>
                        <m:r>
                          <a:rPr lang="en-US" altLang="zh-CN" b="0" i="0" smtClean="0">
                            <a:latin typeface="Cambria Math" panose="02040503050406030204" pitchFamily="18" charset="0"/>
                          </a:rPr>
                          <m:t> </m:t>
                        </m:r>
                      </m:e>
                    </m:d>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and</m:t>
                    </m:r>
                    <m:r>
                      <a:rPr lang="en-US" altLang="zh-CN" b="0" i="0" smtClean="0">
                        <a:latin typeface="Cambria Math" panose="02040503050406030204" pitchFamily="18" charset="0"/>
                      </a:rPr>
                      <m:t> </m:t>
                    </m:r>
                  </m:oMath>
                </a14:m>
                <a:r>
                  <a:rPr lang="en-US" altLang="zh-CN" b="0" dirty="0"/>
                  <a:t> </a:t>
                </a:r>
                <a14:m>
                  <m:oMath xmlns:m="http://schemas.openxmlformats.org/officeDocument/2006/math">
                    <m:r>
                      <a:rPr lang="en-US" altLang="zh-CN" b="0" i="1" smtClean="0">
                        <a:latin typeface="Cambria Math" panose="02040503050406030204" pitchFamily="18" charset="0"/>
                      </a:rPr>
                      <m:t>𝐻</m:t>
                    </m:r>
                    <m:r>
                      <a:rPr lang="en-US" altLang="zh-CN" b="0" i="1" smtClean="0">
                        <a:latin typeface="Cambria Math" panose="02040503050406030204" pitchFamily="18" charset="0"/>
                      </a:rPr>
                      <m:t>≥0</m:t>
                    </m:r>
                    <m:r>
                      <a:rPr lang="en-US" altLang="zh-CN" b="0" i="0" smtClean="0">
                        <a:latin typeface="Cambria Math" panose="02040503050406030204" pitchFamily="18" charset="0"/>
                      </a:rPr>
                      <m:t> </m:t>
                    </m:r>
                  </m:oMath>
                </a14:m>
                <a:endParaRPr lang="en-US" altLang="zh-CN" b="0" dirty="0"/>
              </a:p>
              <a:p>
                <a:pPr marL="0" indent="0">
                  <a:buNone/>
                </a:pPr>
                <a:endParaRPr lang="en-US" altLang="zh-CN"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𝑌</m:t>
                      </m:r>
                      <m:r>
                        <a:rPr lang="en-US" altLang="zh-CN" b="0" i="1" smtClean="0">
                          <a:latin typeface="Cambria Math" panose="02040503050406030204" pitchFamily="18" charset="0"/>
                        </a:rPr>
                        <m:t>=</m:t>
                      </m:r>
                      <m:r>
                        <a:rPr lang="en-US" altLang="zh-CN" b="0" i="1" smtClean="0">
                          <a:latin typeface="Cambria Math" panose="02040503050406030204" pitchFamily="18" charset="0"/>
                        </a:rPr>
                        <m:t>𝐹𝑇</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e>
                      </m:d>
                    </m:oMath>
                    <m:oMath xmlns:m="http://schemas.openxmlformats.org/officeDocument/2006/math">
                      <m:r>
                        <a:rPr lang="en-US" altLang="zh-CN" b="0" i="0"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r>
                        <a:rPr lang="en-US" altLang="zh-CN" b="0" i="1" smtClean="0">
                          <a:latin typeface="Cambria Math" panose="02040503050406030204" pitchFamily="18" charset="0"/>
                        </a:rPr>
                        <m:t>=</m:t>
                      </m:r>
                      <m:r>
                        <a:rPr lang="en-US" altLang="zh-CN" b="0" i="1" smtClean="0">
                          <a:latin typeface="Cambria Math" panose="02040503050406030204" pitchFamily="18" charset="0"/>
                        </a:rPr>
                        <m:t>𝐼𝐹𝑇</m:t>
                      </m:r>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𝑋</m:t>
                          </m:r>
                        </m:e>
                      </m:acc>
                      <m:r>
                        <a:rPr lang="en-US" altLang="zh-CN" b="0" i="1" smtClean="0">
                          <a:latin typeface="Cambria Math" panose="02040503050406030204" pitchFamily="18" charset="0"/>
                        </a:rPr>
                        <m:t>}=</m:t>
                      </m:r>
                      <m:r>
                        <a:rPr lang="en-US" altLang="zh-CN" b="0" i="1" smtClean="0">
                          <a:latin typeface="Cambria Math" panose="02040503050406030204" pitchFamily="18" charset="0"/>
                        </a:rPr>
                        <m:t>𝐼𝐹𝑇</m:t>
                      </m:r>
                      <m:r>
                        <a:rPr lang="en-US" altLang="zh-CN" b="0" i="1" smtClean="0">
                          <a:latin typeface="Cambria Math" panose="02040503050406030204" pitchFamily="18" charset="0"/>
                        </a:rPr>
                        <m:t>{</m:t>
                      </m:r>
                      <m:r>
                        <a:rPr lang="en-US" altLang="zh-CN" b="0" i="1" smtClean="0">
                          <a:latin typeface="Cambria Math" panose="02040503050406030204" pitchFamily="18" charset="0"/>
                        </a:rPr>
                        <m:t>𝐻</m:t>
                      </m:r>
                      <m:r>
                        <a:rPr lang="en-US" altLang="zh-CN" b="0" i="1" smtClean="0">
                          <a:latin typeface="Cambria Math" panose="02040503050406030204" pitchFamily="18" charset="0"/>
                        </a:rPr>
                        <m:t> ×</m:t>
                      </m:r>
                      <m:r>
                        <a:rPr lang="en-US" altLang="zh-CN" b="0" i="1" smtClean="0">
                          <a:latin typeface="Cambria Math" panose="02040503050406030204" pitchFamily="18" charset="0"/>
                        </a:rPr>
                        <m:t>𝑌</m:t>
                      </m:r>
                      <m:r>
                        <a:rPr lang="en-US" altLang="zh-CN" b="0" i="1" smtClean="0">
                          <a:latin typeface="Cambria Math" panose="02040503050406030204" pitchFamily="18" charset="0"/>
                        </a:rPr>
                        <m:t>}</m:t>
                      </m:r>
                    </m:oMath>
                  </m:oMathPara>
                </a14:m>
                <a:endParaRPr lang="en-US" altLang="zh-CN" b="0" dirty="0">
                  <a:latin typeface="Cambria Math" panose="02040503050406030204" pitchFamily="18" charset="0"/>
                </a:endParaRPr>
              </a:p>
              <a:p>
                <a:pPr marL="0" indent="0">
                  <a:buNone/>
                </a:pPr>
                <a:endParaRPr lang="en-US" altLang="zh-CN" b="0" dirty="0">
                  <a:latin typeface="Cambria Math" panose="02040503050406030204" pitchFamily="18" charset="0"/>
                </a:endParaRPr>
              </a:p>
              <a:p>
                <a:pPr marL="0" indent="0">
                  <a:buNone/>
                </a:pPr>
                <a:endParaRPr lang="en-US" altLang="zh-CN" dirty="0">
                  <a:latin typeface="Cambria Math" panose="02040503050406030204" pitchFamily="18" charset="0"/>
                </a:endParaRPr>
              </a:p>
            </p:txBody>
          </p:sp>
        </mc:Choice>
        <mc:Fallback>
          <p:sp>
            <p:nvSpPr>
              <p:cNvPr id="6" name="内容占位符 2">
                <a:extLst>
                  <a:ext uri="{FF2B5EF4-FFF2-40B4-BE49-F238E27FC236}">
                    <a16:creationId xmlns:a16="http://schemas.microsoft.com/office/drawing/2014/main" id="{A8939264-A6FA-6814-74C8-F5408635C3A8}"/>
                  </a:ext>
                </a:extLst>
              </p:cNvPr>
              <p:cNvSpPr txBox="1">
                <a:spLocks noRot="1" noChangeAspect="1" noMove="1" noResize="1" noEditPoints="1" noAdjustHandles="1" noChangeArrowheads="1" noChangeShapeType="1" noTextEdit="1"/>
              </p:cNvSpPr>
              <p:nvPr/>
            </p:nvSpPr>
            <p:spPr>
              <a:xfrm>
                <a:off x="6685584" y="1937050"/>
                <a:ext cx="5030166" cy="5460335"/>
              </a:xfrm>
              <a:prstGeom prst="rect">
                <a:avLst/>
              </a:prstGeom>
              <a:blipFill>
                <a:blip r:embed="rId4"/>
                <a:stretch>
                  <a:fillRect l="-1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40674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21F0DA-1CC3-A19D-9D81-2682CA855CB9}"/>
              </a:ext>
            </a:extLst>
          </p:cNvPr>
          <p:cNvSpPr>
            <a:spLocks noGrp="1"/>
          </p:cNvSpPr>
          <p:nvPr>
            <p:ph type="title"/>
          </p:nvPr>
        </p:nvSpPr>
        <p:spPr/>
        <p:txBody>
          <a:bodyPr/>
          <a:lstStyle/>
          <a:p>
            <a:r>
              <a:rPr lang="en-US" altLang="zh-CN" dirty="0"/>
              <a:t>Causal Wiener filter</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761BC8AA-C5DC-858A-C6DD-1F63D02E2277}"/>
                  </a:ext>
                </a:extLst>
              </p:cNvPr>
              <p:cNvSpPr>
                <a:spLocks noGrp="1"/>
              </p:cNvSpPr>
              <p:nvPr>
                <p:ph sz="half" idx="1"/>
              </p:nvPr>
            </p:nvSpPr>
            <p:spPr>
              <a:xfrm>
                <a:off x="600075" y="1795850"/>
                <a:ext cx="5243514" cy="4531923"/>
              </a:xfrm>
            </p:spPr>
            <p:txBody>
              <a:bodyPr/>
              <a:lstStyle/>
              <a:p>
                <a:r>
                  <a:rPr lang="en-US" altLang="zh-CN" dirty="0"/>
                  <a:t>Time domain</a:t>
                </a:r>
              </a:p>
              <a:p>
                <a:endParaRPr lang="en-US" altLang="zh-CN" dirty="0"/>
              </a:p>
              <a:p>
                <a:endParaRPr lang="en-US" altLang="zh-CN" dirty="0"/>
              </a:p>
              <a:p>
                <a:pPr marL="0" indent="0">
                  <a:buNone/>
                </a:pPr>
                <a:r>
                  <a:rPr lang="en-US" altLang="zh-CN" dirty="0"/>
                  <a:t>When </a:t>
                </a:r>
                <a14:m>
                  <m:oMath xmlns:m="http://schemas.openxmlformats.org/officeDocument/2006/math">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𝑖𝑛𝑓</m:t>
                    </m:r>
                  </m:oMath>
                </a14:m>
                <a:r>
                  <a:rPr lang="en-US" altLang="zh-CN" dirty="0"/>
                  <a:t> , FIR </a:t>
                </a:r>
                <a14:m>
                  <m:oMath xmlns:m="http://schemas.openxmlformats.org/officeDocument/2006/math">
                    <m:r>
                      <a:rPr lang="en-US" altLang="zh-CN" i="1">
                        <a:latin typeface="Cambria Math" panose="02040503050406030204" pitchFamily="18" charset="0"/>
                      </a:rPr>
                      <m:t>→</m:t>
                    </m:r>
                  </m:oMath>
                </a14:m>
                <a:r>
                  <a:rPr lang="en-US" altLang="zh-CN" dirty="0"/>
                  <a:t> Causal IIR. </a:t>
                </a:r>
              </a:p>
              <a:p>
                <a:pPr marL="0" indent="0">
                  <a:buFont typeface="Arial" panose="020B0604020202020204" pitchFamily="34" charset="0"/>
                  <a:buNone/>
                </a:pPr>
                <a:r>
                  <a:rPr lang="en-US" altLang="zh-CN" dirty="0"/>
                  <a:t>When </a:t>
                </a:r>
                <a14:m>
                  <m:oMath xmlns:m="http://schemas.openxmlformats.org/officeDocument/2006/math">
                    <m:r>
                      <a:rPr lang="en-US" altLang="zh-CN" i="1" smtClean="0">
                        <a:latin typeface="Cambria Math" panose="02040503050406030204" pitchFamily="18" charset="0"/>
                      </a:rPr>
                      <m:t>𝑁</m:t>
                    </m:r>
                    <m:r>
                      <a:rPr lang="en-US" altLang="zh-CN" i="1" smtClean="0">
                        <a:latin typeface="Cambria Math" panose="02040503050406030204" pitchFamily="18" charset="0"/>
                      </a:rPr>
                      <m:t>→</m:t>
                    </m:r>
                    <m:r>
                      <a:rPr lang="en-US" altLang="zh-CN" i="1" smtClean="0">
                        <a:latin typeface="Cambria Math" panose="02040503050406030204" pitchFamily="18" charset="0"/>
                      </a:rPr>
                      <m:t>𝑖𝑛𝑓</m:t>
                    </m:r>
                  </m:oMath>
                </a14:m>
                <a:r>
                  <a:rPr lang="en-US" altLang="zh-CN" dirty="0"/>
                  <a:t> , FIR </a:t>
                </a:r>
                <a14:m>
                  <m:oMath xmlns:m="http://schemas.openxmlformats.org/officeDocument/2006/math">
                    <m:r>
                      <a:rPr lang="en-US" altLang="zh-CN" i="1">
                        <a:latin typeface="Cambria Math" panose="02040503050406030204" pitchFamily="18" charset="0"/>
                      </a:rPr>
                      <m:t>→</m:t>
                    </m:r>
                  </m:oMath>
                </a14:m>
                <a:r>
                  <a:rPr lang="en-US" altLang="zh-CN" dirty="0"/>
                  <a:t> Causal IIR. </a:t>
                </a:r>
              </a:p>
              <a:p>
                <a:pPr marL="0" indent="0">
                  <a:buFont typeface="Arial" panose="020B0604020202020204" pitchFamily="34" charset="0"/>
                  <a:buNone/>
                </a:pPr>
                <a:r>
                  <a:rPr lang="en-US" altLang="zh-CN" dirty="0"/>
                  <a:t>Set a large N</a:t>
                </a:r>
              </a:p>
            </p:txBody>
          </p:sp>
        </mc:Choice>
        <mc:Fallback>
          <p:sp>
            <p:nvSpPr>
              <p:cNvPr id="3" name="内容占位符 2">
                <a:extLst>
                  <a:ext uri="{FF2B5EF4-FFF2-40B4-BE49-F238E27FC236}">
                    <a16:creationId xmlns:a16="http://schemas.microsoft.com/office/drawing/2014/main" id="{761BC8AA-C5DC-858A-C6DD-1F63D02E2277}"/>
                  </a:ext>
                </a:extLst>
              </p:cNvPr>
              <p:cNvSpPr>
                <a:spLocks noGrp="1" noRot="1" noChangeAspect="1" noMove="1" noResize="1" noEditPoints="1" noAdjustHandles="1" noChangeArrowheads="1" noChangeShapeType="1" noTextEdit="1"/>
              </p:cNvSpPr>
              <p:nvPr>
                <p:ph sz="half" idx="1"/>
              </p:nvPr>
            </p:nvSpPr>
            <p:spPr>
              <a:xfrm>
                <a:off x="600075" y="1795850"/>
                <a:ext cx="5243514" cy="4531923"/>
              </a:xfrm>
              <a:blipFill>
                <a:blip r:embed="rId2"/>
                <a:stretch>
                  <a:fillRect l="-1161" t="-1346"/>
                </a:stretch>
              </a:blipFill>
            </p:spPr>
            <p:txBody>
              <a:bodyPr/>
              <a:lstStyle/>
              <a:p>
                <a:r>
                  <a:rPr lang="zh-CN" altLang="en-US">
                    <a:noFill/>
                  </a:rPr>
                  <a:t> </a:t>
                </a:r>
              </a:p>
            </p:txBody>
          </p:sp>
        </mc:Fallback>
      </mc:AlternateContent>
      <p:pic>
        <p:nvPicPr>
          <p:cNvPr id="6" name="内容占位符 5" descr="文本&#10;&#10;AI 生成的内容可能不正确。">
            <a:extLst>
              <a:ext uri="{FF2B5EF4-FFF2-40B4-BE49-F238E27FC236}">
                <a16:creationId xmlns:a16="http://schemas.microsoft.com/office/drawing/2014/main" id="{6844A165-9C88-8B0D-AD47-C2F714607E51}"/>
              </a:ext>
            </a:extLst>
          </p:cNvPr>
          <p:cNvPicPr>
            <a:picLocks noGrp="1" noChangeAspect="1"/>
          </p:cNvPicPr>
          <p:nvPr>
            <p:ph sz="half" idx="2"/>
          </p:nvPr>
        </p:nvPicPr>
        <p:blipFill>
          <a:blip r:embed="rId3"/>
          <a:stretch>
            <a:fillRect/>
          </a:stretch>
        </p:blipFill>
        <p:spPr>
          <a:xfrm>
            <a:off x="667544" y="2139951"/>
            <a:ext cx="5000625" cy="628650"/>
          </a:xfrm>
        </p:spPr>
      </p:pic>
      <p:pic>
        <p:nvPicPr>
          <p:cNvPr id="8" name="图片 7" descr="手表上有字&#10;&#10;AI 生成的内容可能不正确。">
            <a:extLst>
              <a:ext uri="{FF2B5EF4-FFF2-40B4-BE49-F238E27FC236}">
                <a16:creationId xmlns:a16="http://schemas.microsoft.com/office/drawing/2014/main" id="{35730E15-9AD8-75E9-3704-292231B7FC0A}"/>
              </a:ext>
            </a:extLst>
          </p:cNvPr>
          <p:cNvPicPr>
            <a:picLocks noChangeAspect="1"/>
          </p:cNvPicPr>
          <p:nvPr/>
        </p:nvPicPr>
        <p:blipFill>
          <a:blip r:embed="rId4"/>
          <a:stretch>
            <a:fillRect/>
          </a:stretch>
        </p:blipFill>
        <p:spPr>
          <a:xfrm>
            <a:off x="667544" y="2700337"/>
            <a:ext cx="4591050" cy="657225"/>
          </a:xfrm>
          <a:prstGeom prst="rect">
            <a:avLst/>
          </a:prstGeom>
        </p:spPr>
      </p:pic>
      <p:sp>
        <p:nvSpPr>
          <p:cNvPr id="11" name="内容占位符 2">
            <a:extLst>
              <a:ext uri="{FF2B5EF4-FFF2-40B4-BE49-F238E27FC236}">
                <a16:creationId xmlns:a16="http://schemas.microsoft.com/office/drawing/2014/main" id="{5D12AA1D-301F-849D-C563-7AE6565F7548}"/>
              </a:ext>
            </a:extLst>
          </p:cNvPr>
          <p:cNvSpPr txBox="1">
            <a:spLocks/>
          </p:cNvSpPr>
          <p:nvPr/>
        </p:nvSpPr>
        <p:spPr>
          <a:xfrm>
            <a:off x="6003926" y="1795850"/>
            <a:ext cx="5243514" cy="45319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Frequency domain</a:t>
            </a:r>
          </a:p>
          <a:p>
            <a:endParaRPr lang="en-US" altLang="zh-CN" dirty="0"/>
          </a:p>
          <a:p>
            <a:endParaRPr lang="en-US" altLang="zh-CN" dirty="0"/>
          </a:p>
          <a:p>
            <a:pPr marL="0" indent="0">
              <a:buNone/>
            </a:pPr>
            <a:r>
              <a:rPr lang="en-US" altLang="zh-CN" dirty="0"/>
              <a:t>For filtering, m =0.</a:t>
            </a:r>
          </a:p>
          <a:p>
            <a:pPr marL="0" indent="0">
              <a:buNone/>
            </a:pPr>
            <a:r>
              <a:rPr lang="en-US" altLang="zh-CN" dirty="0"/>
              <a:t>Problem: spectrum factorization, separation of causal and </a:t>
            </a:r>
            <a:r>
              <a:rPr lang="en-US" altLang="zh-CN" dirty="0" err="1"/>
              <a:t>anticausal</a:t>
            </a:r>
            <a:r>
              <a:rPr lang="en-US" altLang="zh-CN" dirty="0"/>
              <a:t> parts.</a:t>
            </a:r>
          </a:p>
          <a:p>
            <a:endParaRPr lang="en-US" altLang="zh-CN" dirty="0"/>
          </a:p>
          <a:p>
            <a:endParaRPr lang="en-US" altLang="zh-CN" dirty="0"/>
          </a:p>
          <a:p>
            <a:pPr marL="0" indent="0">
              <a:buNone/>
            </a:pPr>
            <a:endParaRPr lang="en-US" altLang="zh-CN" dirty="0"/>
          </a:p>
          <a:p>
            <a:endParaRPr lang="en-US" altLang="zh-CN" dirty="0"/>
          </a:p>
          <a:p>
            <a:endParaRPr lang="en-US" altLang="zh-CN" dirty="0"/>
          </a:p>
          <a:p>
            <a:endParaRPr lang="zh-CN" altLang="en-US" dirty="0"/>
          </a:p>
        </p:txBody>
      </p:sp>
      <p:pic>
        <p:nvPicPr>
          <p:cNvPr id="13" name="图片 12">
            <a:extLst>
              <a:ext uri="{FF2B5EF4-FFF2-40B4-BE49-F238E27FC236}">
                <a16:creationId xmlns:a16="http://schemas.microsoft.com/office/drawing/2014/main" id="{D5FDEB1D-C31D-D9A4-4847-ADB1F538DBD6}"/>
              </a:ext>
            </a:extLst>
          </p:cNvPr>
          <p:cNvPicPr>
            <a:picLocks noChangeAspect="1"/>
          </p:cNvPicPr>
          <p:nvPr/>
        </p:nvPicPr>
        <p:blipFill>
          <a:blip r:embed="rId5"/>
          <a:stretch>
            <a:fillRect/>
          </a:stretch>
        </p:blipFill>
        <p:spPr>
          <a:xfrm>
            <a:off x="6419741" y="2142714"/>
            <a:ext cx="2849110" cy="788226"/>
          </a:xfrm>
          <a:prstGeom prst="rect">
            <a:avLst/>
          </a:prstGeom>
        </p:spPr>
      </p:pic>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86AF19BC-BD71-BB95-2DF3-61B240515908}"/>
                  </a:ext>
                </a:extLst>
              </p:cNvPr>
              <p:cNvSpPr txBox="1"/>
              <p:nvPr/>
            </p:nvSpPr>
            <p:spPr>
              <a:xfrm>
                <a:off x="8891097" y="2258645"/>
                <a:ext cx="2930267" cy="3912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𝑥𝑦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𝑦𝑦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𝑣𝑣</m:t>
                          </m:r>
                        </m:sub>
                      </m:sSub>
                    </m:oMath>
                  </m:oMathPara>
                </a14:m>
                <a:endParaRPr lang="zh-CN" altLang="en-US" dirty="0"/>
              </a:p>
            </p:txBody>
          </p:sp>
        </mc:Choice>
        <mc:Fallback>
          <p:sp>
            <p:nvSpPr>
              <p:cNvPr id="15" name="文本框 14">
                <a:extLst>
                  <a:ext uri="{FF2B5EF4-FFF2-40B4-BE49-F238E27FC236}">
                    <a16:creationId xmlns:a16="http://schemas.microsoft.com/office/drawing/2014/main" id="{86AF19BC-BD71-BB95-2DF3-61B240515908}"/>
                  </a:ext>
                </a:extLst>
              </p:cNvPr>
              <p:cNvSpPr txBox="1">
                <a:spLocks noRot="1" noChangeAspect="1" noMove="1" noResize="1" noEditPoints="1" noAdjustHandles="1" noChangeArrowheads="1" noChangeShapeType="1" noTextEdit="1"/>
              </p:cNvSpPr>
              <p:nvPr/>
            </p:nvSpPr>
            <p:spPr>
              <a:xfrm>
                <a:off x="8891097" y="2258645"/>
                <a:ext cx="2930267" cy="391261"/>
              </a:xfrm>
              <a:prstGeom prst="rect">
                <a:avLst/>
              </a:prstGeom>
              <a:blipFill>
                <a:blip r:embed="rId6"/>
                <a:stretch>
                  <a:fillRect b="-78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3737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4EA783-1E2F-4C29-BF20-C50A4FADBE94}"/>
              </a:ext>
            </a:extLst>
          </p:cNvPr>
          <p:cNvSpPr>
            <a:spLocks noGrp="1"/>
          </p:cNvSpPr>
          <p:nvPr>
            <p:ph type="title"/>
          </p:nvPr>
        </p:nvSpPr>
        <p:spPr/>
        <p:txBody>
          <a:bodyPr/>
          <a:lstStyle/>
          <a:p>
            <a:r>
              <a:rPr lang="en-US" altLang="zh-CN" dirty="0"/>
              <a:t>Causal Wiener filter</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4735E78-7F7D-38A1-8B2E-B9E75E4AEE7E}"/>
                  </a:ext>
                </a:extLst>
              </p:cNvPr>
              <p:cNvSpPr>
                <a:spLocks noGrp="1"/>
              </p:cNvSpPr>
              <p:nvPr>
                <p:ph sz="half" idx="1"/>
              </p:nvPr>
            </p:nvSpPr>
            <p:spPr/>
            <p:txBody>
              <a:bodyPr/>
              <a:lstStyle/>
              <a:p>
                <a:r>
                  <a:rPr lang="en-US" altLang="zh-CN" dirty="0"/>
                  <a:t>z-domain</a:t>
                </a:r>
              </a:p>
              <a:p>
                <a:r>
                  <a:rPr lang="en-US" altLang="zh-CN" dirty="0"/>
                  <a:t>Causal part separation</a:t>
                </a: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(0)…</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e>
                          </m:d>
                        </m:e>
                      </m:d>
                    </m:oMath>
                    <m:oMath xmlns:m="http://schemas.openxmlformats.org/officeDocument/2006/math">
                      <m:r>
                        <a:rPr lang="en-US" altLang="zh-CN" b="0" i="1" smtClean="0">
                          <a:latin typeface="Cambria Math" panose="02040503050406030204" pitchFamily="18" charset="0"/>
                        </a:rPr>
                        <m:t>𝐹</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𝑧</m:t>
                          </m:r>
                        </m:e>
                      </m:d>
                      <m:r>
                        <a:rPr lang="en-US" altLang="zh-CN" b="0" i="1" smtClean="0">
                          <a:latin typeface="Cambria Math" panose="02040503050406030204" pitchFamily="18" charset="0"/>
                        </a:rPr>
                        <m:t>= </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m:t>
                              </m:r>
                              <m:r>
                                <a:rPr lang="en-US" altLang="zh-CN" i="1">
                                  <a:latin typeface="Cambria Math" panose="02040503050406030204" pitchFamily="18" charset="0"/>
                                </a:rPr>
                                <m:t>𝑘</m:t>
                              </m:r>
                            </m:e>
                          </m:d>
                          <m:r>
                            <a:rPr lang="en-US" altLang="zh-CN" i="1">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𝑘</m:t>
                              </m:r>
                              <m:r>
                                <a:rPr lang="en-US" altLang="zh-CN" i="1">
                                  <a:latin typeface="Cambria Math" panose="02040503050406030204" pitchFamily="18" charset="0"/>
                                </a:rPr>
                                <m:t>−1</m:t>
                              </m:r>
                            </m:e>
                          </m:d>
                          <m:r>
                            <a:rPr lang="en-US" altLang="zh-CN" i="1">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(0)…</m:t>
                          </m:r>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𝑘</m:t>
                              </m:r>
                            </m:e>
                          </m:d>
                        </m:e>
                      </m:d>
                      <m:r>
                        <a:rPr lang="en-US" altLang="zh-CN">
                          <a:latin typeface="Cambria Math" panose="02040503050406030204" pitchFamily="18" charset="0"/>
                          <a:ea typeface="Cambria Math" panose="02040503050406030204" pitchFamily="18" charset="0"/>
                        </a:rPr>
                        <m:t>∙</m:t>
                      </m:r>
                    </m:oMath>
                    <m:oMath xmlns:m="http://schemas.openxmlformats.org/officeDocument/2006/math">
                      <m:d>
                        <m:dPr>
                          <m:begChr m:val="["/>
                          <m:endChr m:val="]"/>
                          <m:ctrlPr>
                            <a:rPr lang="en-US" altLang="zh-CN" b="0" i="1" smtClean="0">
                              <a:latin typeface="Cambria Math" panose="02040503050406030204" pitchFamily="18" charset="0"/>
                              <a:ea typeface="Cambria Math" panose="02040503050406030204" pitchFamily="18" charset="0"/>
                            </a:rPr>
                          </m:ctrlPr>
                        </m:dPr>
                        <m:e>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𝑧</m:t>
                              </m:r>
                            </m:e>
                            <m:sup>
                              <m:r>
                                <a:rPr lang="en-US" altLang="zh-CN" b="0" i="1" smtClean="0">
                                  <a:latin typeface="Cambria Math" panose="02040503050406030204" pitchFamily="18" charset="0"/>
                                  <a:ea typeface="Cambria Math" panose="02040503050406030204" pitchFamily="18" charset="0"/>
                                </a:rPr>
                                <m:t>𝑘</m:t>
                              </m:r>
                            </m:sup>
                          </m:sSup>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𝑧</m:t>
                              </m:r>
                            </m:e>
                            <m:sup>
                              <m: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sup>
                          </m:sSup>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𝑧</m:t>
                              </m:r>
                            </m:e>
                            <m:sup>
                              <m:r>
                                <a:rPr lang="en-US" altLang="zh-CN" b="0" i="1" smtClean="0">
                                  <a:latin typeface="Cambria Math" panose="02040503050406030204" pitchFamily="18" charset="0"/>
                                  <a:ea typeface="Cambria Math" panose="02040503050406030204" pitchFamily="18" charset="0"/>
                                </a:rPr>
                                <m:t>0</m:t>
                              </m:r>
                            </m:sup>
                          </m:sSup>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𝑧</m:t>
                              </m:r>
                            </m:e>
                            <m:sup>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e>
                              </m:d>
                            </m:sup>
                          </m:sSup>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𝑧</m:t>
                              </m:r>
                            </m:e>
                            <m: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𝑘</m:t>
                              </m:r>
                            </m:sup>
                          </m:sSup>
                        </m:e>
                      </m:d>
                    </m:oMath>
                  </m:oMathPara>
                </a14:m>
                <a:endParaRPr lang="en-US" altLang="zh-CN" b="0" dirty="0">
                  <a:ea typeface="Cambria Math" panose="02040503050406030204" pitchFamily="18" charset="0"/>
                </a:endParaRPr>
              </a:p>
              <a:p>
                <a:pPr marL="0" indent="0">
                  <a:buNone/>
                </a:pPr>
                <a:endParaRPr lang="en-US" altLang="zh-CN" dirty="0"/>
              </a:p>
              <a:p>
                <a:pPr marL="0" indent="0">
                  <a:buNone/>
                </a:pPr>
                <a:r>
                  <a:rPr lang="en-US" altLang="zh-CN" dirty="0"/>
                  <a:t>Spectrum factorization</a:t>
                </a:r>
              </a:p>
              <a:p>
                <a:pPr marL="0" indent="0">
                  <a:buNone/>
                </a:pPr>
                <a:r>
                  <a:rPr lang="en-US" altLang="zh-CN" dirty="0"/>
                  <a:t>Solve zeros and poles-&gt; select zeros and poles-&gt;form transfer function</a:t>
                </a:r>
              </a:p>
              <a:p>
                <a:pPr marL="0" indent="0">
                  <a:buNone/>
                </a:pPr>
                <a:endParaRPr lang="en-US" altLang="zh-CN" dirty="0"/>
              </a:p>
              <a:p>
                <a:pPr marL="0" indent="0">
                  <a:buNone/>
                </a:pPr>
                <a:endParaRPr lang="en-US" altLang="zh-CN" dirty="0"/>
              </a:p>
              <a:p>
                <a:pPr marL="0" indent="0">
                  <a:buNone/>
                </a:pPr>
                <a:r>
                  <a:rPr lang="en-US" altLang="zh-CN" dirty="0"/>
                  <a:t>Hard to compute </a:t>
                </a:r>
                <a:endParaRPr lang="zh-CN" altLang="en-US" dirty="0"/>
              </a:p>
              <a:p>
                <a:pPr marL="0" indent="0">
                  <a:buNone/>
                </a:pPr>
                <a:endParaRPr lang="zh-CN" altLang="en-US" dirty="0"/>
              </a:p>
              <a:p>
                <a:pPr marL="0" indent="0">
                  <a:buNone/>
                </a:pPr>
                <a:endParaRPr lang="en-US" altLang="zh-CN" dirty="0"/>
              </a:p>
            </p:txBody>
          </p:sp>
        </mc:Choice>
        <mc:Fallback>
          <p:sp>
            <p:nvSpPr>
              <p:cNvPr id="3" name="内容占位符 2">
                <a:extLst>
                  <a:ext uri="{FF2B5EF4-FFF2-40B4-BE49-F238E27FC236}">
                    <a16:creationId xmlns:a16="http://schemas.microsoft.com/office/drawing/2014/main" id="{34735E78-7F7D-38A1-8B2E-B9E75E4AEE7E}"/>
                  </a:ext>
                </a:extLst>
              </p:cNvPr>
              <p:cNvSpPr>
                <a:spLocks noGrp="1" noRot="1" noChangeAspect="1" noMove="1" noResize="1" noEditPoints="1" noAdjustHandles="1" noChangeArrowheads="1" noChangeShapeType="1" noTextEdit="1"/>
              </p:cNvSpPr>
              <p:nvPr>
                <p:ph sz="half" idx="1"/>
              </p:nvPr>
            </p:nvSpPr>
            <p:spPr>
              <a:blipFill>
                <a:blip r:embed="rId2"/>
                <a:stretch>
                  <a:fillRect l="-1147" t="-13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73A1E467-860F-D744-165F-1017305A2678}"/>
                  </a:ext>
                </a:extLst>
              </p:cNvPr>
              <p:cNvSpPr>
                <a:spLocks noGrp="1"/>
              </p:cNvSpPr>
              <p:nvPr>
                <p:ph sz="half" idx="2"/>
              </p:nvPr>
            </p:nvSpPr>
            <p:spPr/>
            <p:txBody>
              <a:bodyPr/>
              <a:lstStyle/>
              <a:p>
                <a14:m>
                  <m:oMath xmlns:m="http://schemas.openxmlformats.org/officeDocument/2006/math">
                    <m:r>
                      <a:rPr lang="en-US" altLang="zh-CN" b="0" i="1" smtClean="0">
                        <a:latin typeface="Cambria Math" panose="02040503050406030204" pitchFamily="18" charset="0"/>
                      </a:rPr>
                      <m:t>𝜔</m:t>
                    </m:r>
                  </m:oMath>
                </a14:m>
                <a:r>
                  <a:rPr lang="en-US" altLang="zh-CN" dirty="0"/>
                  <a:t>-domain</a:t>
                </a:r>
              </a:p>
              <a:p>
                <a:r>
                  <a:rPr lang="en-US" altLang="zh-CN" dirty="0"/>
                  <a:t>Causal Part separation</a:t>
                </a:r>
              </a:p>
              <a:p>
                <a:pPr marL="0" indent="0">
                  <a:buNone/>
                </a:pPr>
                <a:r>
                  <a:rPr lang="en-US" altLang="zh-CN" dirty="0"/>
                  <a:t> for </a:t>
                </a:r>
                <a14:m>
                  <m:oMath xmlns:m="http://schemas.openxmlformats.org/officeDocument/2006/math">
                    <m:r>
                      <a:rPr lang="en-US" altLang="zh-CN" b="0" i="1" smtClean="0">
                        <a:latin typeface="Cambria Math" panose="02040503050406030204" pitchFamily="18" charset="0"/>
                      </a:rPr>
                      <m:t>𝐹</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𝜔</m:t>
                        </m:r>
                      </m:e>
                    </m:d>
                  </m:oMath>
                </a14:m>
                <a:r>
                  <a:rPr lang="en-US" altLang="zh-CN" dirty="0"/>
                  <a:t>, f(k) = IFT{F}, set non causal components to zero and get f’(k). </a:t>
                </a:r>
                <a:endParaRPr lang="en-US" altLang="zh-CN"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d>
                            <m:dPr>
                              <m:begChr m:val="{"/>
                              <m:endChr m:val="}"/>
                              <m:ctrlPr>
                                <a:rPr lang="en-US" altLang="zh-CN" b="0" i="0" smtClean="0">
                                  <a:latin typeface="Cambria Math" panose="02040503050406030204" pitchFamily="18" charset="0"/>
                                </a:rPr>
                              </m:ctrlPr>
                            </m:dPr>
                            <m:e>
                              <m:r>
                                <a:rPr lang="en-US" altLang="zh-CN" i="1">
                                  <a:latin typeface="Cambria Math" panose="02040503050406030204" pitchFamily="18" charset="0"/>
                                </a:rPr>
                                <m:t>𝐹</m:t>
                              </m:r>
                              <m:d>
                                <m:dPr>
                                  <m:ctrlPr>
                                    <a:rPr lang="en-US" altLang="zh-CN" i="1">
                                      <a:latin typeface="Cambria Math" panose="02040503050406030204" pitchFamily="18" charset="0"/>
                                    </a:rPr>
                                  </m:ctrlPr>
                                </m:dPr>
                                <m:e>
                                  <m:r>
                                    <a:rPr lang="en-US" altLang="zh-CN" i="1">
                                      <a:latin typeface="Cambria Math" panose="02040503050406030204" pitchFamily="18" charset="0"/>
                                    </a:rPr>
                                    <m:t>𝜔</m:t>
                                  </m:r>
                                </m:e>
                              </m:d>
                            </m:e>
                          </m:d>
                        </m:e>
                        <m:sub>
                          <m:r>
                            <a:rPr lang="en-US" altLang="zh-CN" b="0" i="1" smtClean="0">
                              <a:latin typeface="Cambria Math" panose="02040503050406030204" pitchFamily="18" charset="0"/>
                            </a:rPr>
                            <m:t>+</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𝐹𝑇</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oMath>
                  </m:oMathPara>
                </a14:m>
                <a:endParaRPr lang="en-US" altLang="zh-CN" dirty="0"/>
              </a:p>
              <a:p>
                <a:pPr marL="0" indent="0">
                  <a:buNone/>
                </a:pPr>
                <a:endParaRPr lang="en-US" altLang="zh-CN" dirty="0"/>
              </a:p>
              <a:p>
                <a:r>
                  <a:rPr lang="en-US" altLang="zh-CN" dirty="0"/>
                  <a:t> Spectrum factorization</a:t>
                </a:r>
              </a:p>
              <a:p>
                <a:pPr marL="0" indent="0">
                  <a:buNone/>
                </a:pPr>
                <a:r>
                  <a:rPr lang="zh-CN" altLang="en-US"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𝑦𝑦</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𝑦𝑦</m:t>
                        </m:r>
                      </m:sub>
                      <m:sup>
                        <m:r>
                          <a:rPr lang="en-US" altLang="zh-CN" b="0" i="1" smtClean="0">
                            <a:latin typeface="Cambria Math" panose="02040503050406030204" pitchFamily="18" charset="0"/>
                          </a:rPr>
                          <m:t>+</m:t>
                        </m:r>
                      </m:sup>
                    </m:sSub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𝑦𝑦</m:t>
                        </m:r>
                      </m:sub>
                      <m:sup>
                        <m:r>
                          <a:rPr lang="en-US" altLang="zh-CN" b="0" i="1" smtClean="0">
                            <a:latin typeface="Cambria Math" panose="02040503050406030204" pitchFamily="18" charset="0"/>
                          </a:rPr>
                          <m:t>−</m:t>
                        </m:r>
                      </m:sup>
                    </m:sSubSup>
                  </m:oMath>
                </a14:m>
                <a:br>
                  <a:rPr lang="en-US" altLang="zh-CN" b="0" dirty="0"/>
                </a:br>
                <a14:m>
                  <m:oMath xmlns:m="http://schemas.openxmlformats.org/officeDocument/2006/math">
                    <m:r>
                      <a:rPr lang="en-US" altLang="zh-CN" b="0" i="1" smtClean="0">
                        <a:latin typeface="Cambria Math" panose="02040503050406030204" pitchFamily="18" charset="0"/>
                      </a:rPr>
                      <m:t>𝑙𝑜𝑔</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𝑦𝑦</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𝑙𝑜𝑔</m:t>
                    </m:r>
                  </m:oMath>
                </a14:m>
                <a:r>
                  <a:rPr lang="en-US" altLang="zh-CN" dirty="0"/>
                  <a:t> </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𝜙</m:t>
                        </m:r>
                      </m:e>
                      <m:sub>
                        <m:r>
                          <a:rPr lang="en-US" altLang="zh-CN" i="1">
                            <a:latin typeface="Cambria Math" panose="02040503050406030204" pitchFamily="18" charset="0"/>
                          </a:rPr>
                          <m:t>𝑦𝑦</m:t>
                        </m:r>
                      </m:sub>
                      <m:sup>
                        <m:r>
                          <a:rPr lang="en-US" altLang="zh-CN" i="1">
                            <a:latin typeface="Cambria Math" panose="02040503050406030204" pitchFamily="18" charset="0"/>
                          </a:rPr>
                          <m:t>+</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𝑙𝑜𝑔</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𝜙</m:t>
                        </m:r>
                      </m:e>
                      <m:sub>
                        <m:r>
                          <a:rPr lang="en-US" altLang="zh-CN" i="1">
                            <a:latin typeface="Cambria Math" panose="02040503050406030204" pitchFamily="18" charset="0"/>
                          </a:rPr>
                          <m:t>𝑦𝑦</m:t>
                        </m:r>
                      </m:sub>
                      <m:sup>
                        <m:r>
                          <a:rPr lang="en-US" altLang="zh-CN" i="1">
                            <a:latin typeface="Cambria Math" panose="02040503050406030204" pitchFamily="18" charset="0"/>
                          </a:rPr>
                          <m:t>−</m:t>
                        </m:r>
                      </m:sup>
                    </m:sSubSup>
                  </m:oMath>
                </a14:m>
                <a:br>
                  <a:rPr lang="en-US" altLang="zh-CN" dirty="0"/>
                </a:br>
                <a14:m>
                  <m:oMath xmlns:m="http://schemas.openxmlformats.org/officeDocument/2006/math">
                    <m:r>
                      <a:rPr lang="en-US" altLang="zh-CN" b="0" i="1" smtClean="0">
                        <a:latin typeface="Cambria Math" panose="02040503050406030204" pitchFamily="18" charset="0"/>
                      </a:rPr>
                      <m:t>𝑙𝑜𝑔</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𝑦𝑦</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𝐹𝑇</m:t>
                        </m:r>
                        <m:r>
                          <a:rPr lang="en-US" altLang="zh-CN" b="0" i="1" smtClean="0">
                            <a:latin typeface="Cambria Math" panose="02040503050406030204" pitchFamily="18" charset="0"/>
                          </a:rPr>
                          <m:t>{ </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𝐼𝐹𝑇</m:t>
                            </m:r>
                            <m:r>
                              <a:rPr lang="en-US" altLang="zh-CN" b="0" i="1" smtClean="0">
                                <a:latin typeface="Cambria Math" panose="02040503050406030204" pitchFamily="18" charset="0"/>
                              </a:rPr>
                              <m:t>{</m:t>
                            </m:r>
                            <m:r>
                              <a:rPr lang="en-US" altLang="zh-CN" b="0" i="1" smtClean="0">
                                <a:latin typeface="Cambria Math" panose="02040503050406030204" pitchFamily="18" charset="0"/>
                              </a:rPr>
                              <m:t>𝑙𝑜𝑔</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𝜙</m:t>
                                </m:r>
                              </m:e>
                              <m:sub>
                                <m:r>
                                  <a:rPr lang="en-US" altLang="zh-CN" b="0" i="1" smtClean="0">
                                    <a:latin typeface="Cambria Math" panose="02040503050406030204" pitchFamily="18" charset="0"/>
                                  </a:rPr>
                                  <m:t>𝑦𝑦</m:t>
                                </m:r>
                              </m:sub>
                            </m:sSub>
                            <m:r>
                              <a:rPr lang="en-US" altLang="zh-CN" b="0" i="1" smtClean="0">
                                <a:latin typeface="Cambria Math" panose="02040503050406030204" pitchFamily="18" charset="0"/>
                              </a:rPr>
                              <m:t>}</m:t>
                            </m:r>
                          </m:e>
                        </m:d>
                      </m:e>
                      <m:sub>
                        <m:r>
                          <a:rPr lang="en-US" altLang="zh-CN" b="0" i="1" smtClean="0">
                            <a:latin typeface="Cambria Math" panose="02040503050406030204" pitchFamily="18" charset="0"/>
                          </a:rPr>
                          <m:t>+</m:t>
                        </m:r>
                      </m:sub>
                    </m:sSub>
                    <m:r>
                      <a:rPr lang="en-US" altLang="zh-CN" b="0" i="1" smtClean="0">
                        <a:latin typeface="Cambria Math" panose="02040503050406030204" pitchFamily="18" charset="0"/>
                      </a:rPr>
                      <m:t> }</m:t>
                    </m:r>
                  </m:oMath>
                </a14:m>
                <a:r>
                  <a:rPr lang="en-US" altLang="zh-CN" dirty="0"/>
                  <a:t>, similar for </a:t>
                </a:r>
                <a14:m>
                  <m:oMath xmlns:m="http://schemas.openxmlformats.org/officeDocument/2006/math">
                    <m:r>
                      <a:rPr lang="en-US" altLang="zh-CN" i="1">
                        <a:latin typeface="Cambria Math" panose="02040503050406030204" pitchFamily="18" charset="0"/>
                      </a:rPr>
                      <m:t>𝑙𝑜𝑔</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𝜙</m:t>
                        </m:r>
                      </m:e>
                      <m:sub>
                        <m:r>
                          <a:rPr lang="en-US" altLang="zh-CN" i="1">
                            <a:latin typeface="Cambria Math" panose="02040503050406030204" pitchFamily="18" charset="0"/>
                          </a:rPr>
                          <m:t>𝑦𝑦</m:t>
                        </m:r>
                      </m:sub>
                      <m:sup>
                        <m:r>
                          <a:rPr lang="en-US" altLang="zh-CN" b="0" i="1" smtClean="0">
                            <a:latin typeface="Cambria Math" panose="02040503050406030204" pitchFamily="18" charset="0"/>
                          </a:rPr>
                          <m:t>−</m:t>
                        </m:r>
                      </m:sup>
                    </m:sSubSup>
                  </m:oMath>
                </a14:m>
                <a:endParaRPr lang="en-US" altLang="zh-CN" dirty="0"/>
              </a:p>
            </p:txBody>
          </p:sp>
        </mc:Choice>
        <mc:Fallback>
          <p:sp>
            <p:nvSpPr>
              <p:cNvPr id="4" name="内容占位符 3">
                <a:extLst>
                  <a:ext uri="{FF2B5EF4-FFF2-40B4-BE49-F238E27FC236}">
                    <a16:creationId xmlns:a16="http://schemas.microsoft.com/office/drawing/2014/main" id="{73A1E467-860F-D744-165F-1017305A2678}"/>
                  </a:ext>
                </a:extLst>
              </p:cNvPr>
              <p:cNvSpPr>
                <a:spLocks noGrp="1" noRot="1" noChangeAspect="1" noMove="1" noResize="1" noEditPoints="1" noAdjustHandles="1" noChangeArrowheads="1" noChangeShapeType="1" noTextEdit="1"/>
              </p:cNvSpPr>
              <p:nvPr>
                <p:ph sz="half" idx="2"/>
              </p:nvPr>
            </p:nvSpPr>
            <p:spPr>
              <a:blipFill>
                <a:blip r:embed="rId3"/>
                <a:stretch>
                  <a:fillRect l="-1147" t="-1346"/>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56DE218D-FF2A-ACF8-6508-F817519AB3EE}"/>
              </a:ext>
            </a:extLst>
          </p:cNvPr>
          <p:cNvPicPr>
            <a:picLocks noChangeAspect="1"/>
          </p:cNvPicPr>
          <p:nvPr/>
        </p:nvPicPr>
        <p:blipFill>
          <a:blip r:embed="rId4"/>
          <a:stretch>
            <a:fillRect/>
          </a:stretch>
        </p:blipFill>
        <p:spPr>
          <a:xfrm>
            <a:off x="926235" y="4887901"/>
            <a:ext cx="3865872" cy="591355"/>
          </a:xfrm>
          <a:prstGeom prst="rect">
            <a:avLst/>
          </a:prstGeom>
        </p:spPr>
      </p:pic>
      <p:pic>
        <p:nvPicPr>
          <p:cNvPr id="8" name="图片 7">
            <a:extLst>
              <a:ext uri="{FF2B5EF4-FFF2-40B4-BE49-F238E27FC236}">
                <a16:creationId xmlns:a16="http://schemas.microsoft.com/office/drawing/2014/main" id="{531E5E2F-7226-D4E1-5B7E-846803034B4C}"/>
              </a:ext>
            </a:extLst>
          </p:cNvPr>
          <p:cNvPicPr>
            <a:picLocks noChangeAspect="1"/>
          </p:cNvPicPr>
          <p:nvPr/>
        </p:nvPicPr>
        <p:blipFill>
          <a:blip r:embed="rId5"/>
          <a:stretch>
            <a:fillRect/>
          </a:stretch>
        </p:blipFill>
        <p:spPr>
          <a:xfrm>
            <a:off x="2655067" y="5611062"/>
            <a:ext cx="1609751" cy="799814"/>
          </a:xfrm>
          <a:prstGeom prst="rect">
            <a:avLst/>
          </a:prstGeom>
        </p:spPr>
      </p:pic>
    </p:spTree>
    <p:extLst>
      <p:ext uri="{BB962C8B-B14F-4D97-AF65-F5344CB8AC3E}">
        <p14:creationId xmlns:p14="http://schemas.microsoft.com/office/powerpoint/2010/main" val="2899325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AFAF3-E8E5-531D-853A-8353F3897CE3}"/>
              </a:ext>
            </a:extLst>
          </p:cNvPr>
          <p:cNvSpPr>
            <a:spLocks noGrp="1"/>
          </p:cNvSpPr>
          <p:nvPr>
            <p:ph type="title"/>
          </p:nvPr>
        </p:nvSpPr>
        <p:spPr/>
        <p:txBody>
          <a:bodyPr/>
          <a:lstStyle/>
          <a:p>
            <a:r>
              <a:rPr lang="en-US" altLang="zh-CN" dirty="0"/>
              <a:t>Result</a:t>
            </a:r>
            <a:endParaRPr lang="zh-CN" altLang="en-US" dirty="0"/>
          </a:p>
        </p:txBody>
      </p:sp>
      <p:pic>
        <p:nvPicPr>
          <p:cNvPr id="6" name="内容占位符 5" descr="图表">
            <a:extLst>
              <a:ext uri="{FF2B5EF4-FFF2-40B4-BE49-F238E27FC236}">
                <a16:creationId xmlns:a16="http://schemas.microsoft.com/office/drawing/2014/main" id="{BCDC64C4-A188-985C-E3C6-41F1C8C62B44}"/>
              </a:ext>
            </a:extLst>
          </p:cNvPr>
          <p:cNvPicPr>
            <a:picLocks noGrp="1" noChangeAspect="1"/>
          </p:cNvPicPr>
          <p:nvPr>
            <p:ph sz="half" idx="1"/>
          </p:nvPr>
        </p:nvPicPr>
        <p:blipFill>
          <a:blip r:embed="rId2"/>
          <a:stretch>
            <a:fillRect/>
          </a:stretch>
        </p:blipFill>
        <p:spPr>
          <a:xfrm>
            <a:off x="2306592" y="530225"/>
            <a:ext cx="9283746" cy="6037157"/>
          </a:xfrm>
        </p:spPr>
      </p:pic>
    </p:spTree>
    <p:extLst>
      <p:ext uri="{BB962C8B-B14F-4D97-AF65-F5344CB8AC3E}">
        <p14:creationId xmlns:p14="http://schemas.microsoft.com/office/powerpoint/2010/main" val="781796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B6CBD9-7952-5586-FCB5-912799E72A18}"/>
              </a:ext>
            </a:extLst>
          </p:cNvPr>
          <p:cNvSpPr>
            <a:spLocks noGrp="1"/>
          </p:cNvSpPr>
          <p:nvPr>
            <p:ph type="title"/>
          </p:nvPr>
        </p:nvSpPr>
        <p:spPr/>
        <p:txBody>
          <a:bodyPr/>
          <a:lstStyle/>
          <a:p>
            <a:r>
              <a:rPr lang="en-US" altLang="zh-CN" dirty="0"/>
              <a:t>Frequency response</a:t>
            </a:r>
            <a:endParaRPr lang="zh-CN" altLang="en-US" dirty="0"/>
          </a:p>
        </p:txBody>
      </p:sp>
      <p:pic>
        <p:nvPicPr>
          <p:cNvPr id="6" name="内容占位符 5" descr="图表&#10;&#10;AI 生成的内容可能不正确。">
            <a:extLst>
              <a:ext uri="{FF2B5EF4-FFF2-40B4-BE49-F238E27FC236}">
                <a16:creationId xmlns:a16="http://schemas.microsoft.com/office/drawing/2014/main" id="{A32E2663-6A91-EE55-05A1-9748B4C17F66}"/>
              </a:ext>
            </a:extLst>
          </p:cNvPr>
          <p:cNvPicPr>
            <a:picLocks noGrp="1" noChangeAspect="1"/>
          </p:cNvPicPr>
          <p:nvPr>
            <p:ph sz="half" idx="1"/>
          </p:nvPr>
        </p:nvPicPr>
        <p:blipFill>
          <a:blip r:embed="rId2"/>
          <a:stretch>
            <a:fillRect/>
          </a:stretch>
        </p:blipFill>
        <p:spPr>
          <a:xfrm>
            <a:off x="-320867" y="2397685"/>
            <a:ext cx="12832146" cy="3493122"/>
          </a:xfrm>
        </p:spPr>
      </p:pic>
    </p:spTree>
    <p:extLst>
      <p:ext uri="{BB962C8B-B14F-4D97-AF65-F5344CB8AC3E}">
        <p14:creationId xmlns:p14="http://schemas.microsoft.com/office/powerpoint/2010/main" val="312142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C8ADF6-6635-3347-5552-3DF818279271}"/>
              </a:ext>
            </a:extLst>
          </p:cNvPr>
          <p:cNvSpPr>
            <a:spLocks noGrp="1"/>
          </p:cNvSpPr>
          <p:nvPr>
            <p:ph type="title"/>
          </p:nvPr>
        </p:nvSpPr>
        <p:spPr/>
        <p:txBody>
          <a:bodyPr/>
          <a:lstStyle/>
          <a:p>
            <a:r>
              <a:rPr lang="en-US" altLang="zh-CN" dirty="0"/>
              <a:t>Spectrum</a:t>
            </a:r>
            <a:endParaRPr lang="zh-CN" altLang="en-US" dirty="0"/>
          </a:p>
        </p:txBody>
      </p:sp>
      <p:pic>
        <p:nvPicPr>
          <p:cNvPr id="6" name="内容占位符 5" descr="图形用户界面, 图表, 散点图">
            <a:extLst>
              <a:ext uri="{FF2B5EF4-FFF2-40B4-BE49-F238E27FC236}">
                <a16:creationId xmlns:a16="http://schemas.microsoft.com/office/drawing/2014/main" id="{7D34308B-6CD0-F9E7-063F-3E46503A7D2D}"/>
              </a:ext>
            </a:extLst>
          </p:cNvPr>
          <p:cNvPicPr>
            <a:picLocks noGrp="1" noChangeAspect="1"/>
          </p:cNvPicPr>
          <p:nvPr>
            <p:ph sz="half" idx="1"/>
          </p:nvPr>
        </p:nvPicPr>
        <p:blipFill>
          <a:blip r:embed="rId2"/>
          <a:stretch>
            <a:fillRect/>
          </a:stretch>
        </p:blipFill>
        <p:spPr>
          <a:xfrm>
            <a:off x="-58671" y="1664044"/>
            <a:ext cx="12309342" cy="5193956"/>
          </a:xfrm>
        </p:spPr>
      </p:pic>
    </p:spTree>
    <p:extLst>
      <p:ext uri="{BB962C8B-B14F-4D97-AF65-F5344CB8AC3E}">
        <p14:creationId xmlns:p14="http://schemas.microsoft.com/office/powerpoint/2010/main" val="430939563"/>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168</TotalTime>
  <Words>364</Words>
  <Application>Microsoft Office PowerPoint</Application>
  <PresentationFormat>宽屏</PresentationFormat>
  <Paragraphs>73</Paragraphs>
  <Slides>10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Cambria Math</vt:lpstr>
      <vt:lpstr>Figtree</vt:lpstr>
      <vt:lpstr>Arial</vt:lpstr>
      <vt:lpstr>Calibri</vt:lpstr>
      <vt:lpstr>Office-tema</vt:lpstr>
      <vt:lpstr>EQ2401 Project 1</vt:lpstr>
      <vt:lpstr>Task</vt:lpstr>
      <vt:lpstr>Noise statistics</vt:lpstr>
      <vt:lpstr>FIR wiener filter</vt:lpstr>
      <vt:lpstr>Non-Causal Wiener filter</vt:lpstr>
      <vt:lpstr>Causal Wiener filter</vt:lpstr>
      <vt:lpstr>Causal Wiener filter</vt:lpstr>
      <vt:lpstr>Result</vt:lpstr>
      <vt:lpstr>Frequency response</vt:lpstr>
      <vt:lpstr>Spectrum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ritsuka fujimaru</dc:creator>
  <cp:lastModifiedBy>ritsuka fujimaru</cp:lastModifiedBy>
  <cp:revision>5</cp:revision>
  <dcterms:created xsi:type="dcterms:W3CDTF">2025-02-07T15:15:20Z</dcterms:created>
  <dcterms:modified xsi:type="dcterms:W3CDTF">2025-02-10T03:30:16Z</dcterms:modified>
</cp:coreProperties>
</file>